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</p:sldMasterIdLst>
  <p:notesMasterIdLst>
    <p:notesMasterId r:id="rId37"/>
  </p:notesMasterIdLst>
  <p:handoutMasterIdLst>
    <p:handoutMasterId r:id="rId38"/>
  </p:handoutMasterIdLst>
  <p:sldIdLst>
    <p:sldId id="2090650193" r:id="rId5"/>
    <p:sldId id="2147479492" r:id="rId6"/>
    <p:sldId id="2147479490" r:id="rId7"/>
    <p:sldId id="2103812650" r:id="rId8"/>
    <p:sldId id="2090650203" r:id="rId9"/>
    <p:sldId id="2090650207" r:id="rId10"/>
    <p:sldId id="2090650208" r:id="rId11"/>
    <p:sldId id="3928" r:id="rId12"/>
    <p:sldId id="3931" r:id="rId13"/>
    <p:sldId id="2090650206" r:id="rId14"/>
    <p:sldId id="484" r:id="rId15"/>
    <p:sldId id="2090650204" r:id="rId16"/>
    <p:sldId id="2090650205" r:id="rId17"/>
    <p:sldId id="2090650209" r:id="rId18"/>
    <p:sldId id="2090650210" r:id="rId19"/>
    <p:sldId id="2134805071" r:id="rId20"/>
    <p:sldId id="2134805084" r:id="rId21"/>
    <p:sldId id="2103812676" r:id="rId22"/>
    <p:sldId id="2090650212" r:id="rId23"/>
    <p:sldId id="2147479447" r:id="rId24"/>
    <p:sldId id="2090650214" r:id="rId25"/>
    <p:sldId id="2090650213" r:id="rId26"/>
    <p:sldId id="2103812541" r:id="rId27"/>
    <p:sldId id="2147479316" r:id="rId28"/>
    <p:sldId id="2147479246" r:id="rId29"/>
    <p:sldId id="2134805075" r:id="rId30"/>
    <p:sldId id="2090650216" r:id="rId31"/>
    <p:sldId id="2147479485" r:id="rId32"/>
    <p:sldId id="2147479489" r:id="rId33"/>
    <p:sldId id="2090650215" r:id="rId34"/>
    <p:sldId id="2090650211" r:id="rId35"/>
    <p:sldId id="21474794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AA20F893-64CF-4DE8-B0AD-645BADBDAD26}">
          <p14:sldIdLst>
            <p14:sldId id="2090650193"/>
            <p14:sldId id="2147479492"/>
            <p14:sldId id="2147479490"/>
            <p14:sldId id="2103812650"/>
          </p14:sldIdLst>
        </p14:section>
        <p14:section name="MathWorks Products" id="{C342EE01-4F72-47FC-B260-5656EC69F2BB}">
          <p14:sldIdLst>
            <p14:sldId id="2090650203"/>
            <p14:sldId id="2090650207"/>
            <p14:sldId id="2090650208"/>
          </p14:sldIdLst>
        </p14:section>
        <p14:section name="Enhance Teaching with MATLAB" id="{57C88754-C823-471A-A55A-68C1644FBE27}">
          <p14:sldIdLst>
            <p14:sldId id="3928"/>
            <p14:sldId id="3931"/>
            <p14:sldId id="2090650206"/>
            <p14:sldId id="484"/>
          </p14:sldIdLst>
        </p14:section>
        <p14:section name="MATLAB Features" id="{BB16E2D1-0B29-4EA6-8607-2985FC5673A0}">
          <p14:sldIdLst>
            <p14:sldId id="2090650204"/>
            <p14:sldId id="2090650205"/>
            <p14:sldId id="2090650209"/>
            <p14:sldId id="2090650210"/>
            <p14:sldId id="2134805071"/>
            <p14:sldId id="2134805084"/>
            <p14:sldId id="2103812676"/>
            <p14:sldId id="2090650212"/>
          </p14:sldIdLst>
        </p14:section>
        <p14:section name="Course Designer and Grader" id="{3A8B04B3-D2EB-4927-B8A5-8C4CCD7A5A9E}">
          <p14:sldIdLst>
            <p14:sldId id="2147479447"/>
            <p14:sldId id="2090650214"/>
            <p14:sldId id="2090650213"/>
            <p14:sldId id="2103812541"/>
          </p14:sldIdLst>
        </p14:section>
        <p14:section name="GenAI" id="{F1ED8D30-693E-46CF-BA43-78EE755C769C}">
          <p14:sldIdLst>
            <p14:sldId id="2147479316"/>
            <p14:sldId id="2147479246"/>
            <p14:sldId id="2134805075"/>
            <p14:sldId id="2090650216"/>
            <p14:sldId id="2147479485"/>
            <p14:sldId id="2147479489"/>
            <p14:sldId id="2090650215"/>
            <p14:sldId id="2090650211"/>
            <p14:sldId id="21474794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62D20-DC95-B8BD-4BED-D56E28E48F10}" name="Jonathan Tee" initials="JT" userId="S::jonathan.tee@techsource-asia.com::62555979-16a1-4e45-b2e9-9175243c157f" providerId="AD"/>
  <p188:author id="{43023267-BBBF-054C-5106-CFCB3A0CA0D0}" name="Supamith Sutharojana" initials="SS" userId="S::supamith.sutharojana@ascendas-asia.com::81e42995-9edd-4b41-98d4-9c0c1745e1e2" providerId="AD"/>
  <p188:author id="{3F79DA6F-DBEF-264D-D802-5CEA0FB10C82}" name="Zach Goh" initials="ZG" userId="S::zach.goh@techsource-asia.com::18090788-6760-4284-b7ce-2597f4a695e3" providerId="AD"/>
  <p188:author id="{D8CA1583-36B2-22C0-F765-898EA724A364}" name="Marta Tjoa" initials="MT" userId="S::marta.tjoa@techsource-asia.com::948a3edb-0594-4341-8394-cd851a9414f7" providerId="AD"/>
  <p188:author id="{F5B3DBA2-7428-29A5-AEE2-E02BA9A5E9AF}" name="Ian Phillip Lowe" initials="IL" userId="S::ian.lowe@techsource-asia.com::f49d6db3-c18f-42a1-b483-4bb0144b36bd" providerId="AD"/>
  <p188:author id="{60515CAA-32A2-EC61-C396-BC80A265F612}" name="Kantika Wongkasem" initials="KW" userId="S::Kantika@ascendas-asia.com::567e95c1-a678-4a61-9e47-a7c58428795a" providerId="AD"/>
  <p188:author id="{0C5FC5C1-EF6D-6002-A18A-911F99FA36E5}" name="Thang Ngo" initials="" userId="S::thang.ngo@ascendas-asia.com::53545d3b-801f-4942-9665-d3aaf70d438c" providerId="AD"/>
  <p188:author id="{5CE200C6-9372-A188-4A82-816108D9C934}" name="Rasyiqah Annani Mohd Rosidi" initials="RR" userId="S::rasyiqah.rosidi@techsource-asia.com::91cc2812-8857-4bbb-8b44-5c88957b13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DAD"/>
    <a:srgbClr val="024C84"/>
    <a:srgbClr val="0D78C9"/>
    <a:srgbClr val="ABC8D1"/>
    <a:srgbClr val="993200"/>
    <a:srgbClr val="4D4E44"/>
    <a:srgbClr val="176338"/>
    <a:srgbClr val="0F5D3F"/>
    <a:srgbClr val="1B3049"/>
    <a:srgbClr val="5D3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88489" autoAdjust="0"/>
  </p:normalViewPr>
  <p:slideViewPr>
    <p:cSldViewPr snapToGrid="0">
      <p:cViewPr varScale="1">
        <p:scale>
          <a:sx n="74" d="100"/>
          <a:sy n="74" d="100"/>
        </p:scale>
        <p:origin x="1046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ld Reymari Acoba Cagayan" userId="aaaa90fe-2f8f-418f-888c-7e1a4f218502" providerId="ADAL" clId="{98506B6F-E64F-4285-BAFE-AF441B581F57}"/>
    <pc:docChg chg="custSel addSld modSld modSection">
      <pc:chgData name="Gerald Reymari Acoba Cagayan" userId="aaaa90fe-2f8f-418f-888c-7e1a4f218502" providerId="ADAL" clId="{98506B6F-E64F-4285-BAFE-AF441B581F57}" dt="2026-08-04T05:53:02.928" v="20" actId="22"/>
      <pc:docMkLst>
        <pc:docMk/>
      </pc:docMkLst>
      <pc:sldChg chg="modSp new mod">
        <pc:chgData name="Gerald Reymari Acoba Cagayan" userId="aaaa90fe-2f8f-418f-888c-7e1a4f218502" providerId="ADAL" clId="{98506B6F-E64F-4285-BAFE-AF441B581F57}" dt="2026-07-29T02:20:54.088" v="13" actId="122"/>
        <pc:sldMkLst>
          <pc:docMk/>
          <pc:sldMk cId="2343237707" sldId="2147479490"/>
        </pc:sldMkLst>
        <pc:spChg chg="mod">
          <ac:chgData name="Gerald Reymari Acoba Cagayan" userId="aaaa90fe-2f8f-418f-888c-7e1a4f218502" providerId="ADAL" clId="{98506B6F-E64F-4285-BAFE-AF441B581F57}" dt="2026-07-29T02:20:54.088" v="13" actId="122"/>
          <ac:spMkLst>
            <pc:docMk/>
            <pc:sldMk cId="2343237707" sldId="2147479490"/>
            <ac:spMk id="2" creationId="{82E994AF-A82F-1F19-F455-13933061C33C}"/>
          </ac:spMkLst>
        </pc:spChg>
      </pc:sldChg>
      <pc:sldChg chg="addSp delSp modSp new mod">
        <pc:chgData name="Gerald Reymari Acoba Cagayan" userId="aaaa90fe-2f8f-418f-888c-7e1a4f218502" providerId="ADAL" clId="{98506B6F-E64F-4285-BAFE-AF441B581F57}" dt="2026-08-04T05:53:02.928" v="20" actId="22"/>
        <pc:sldMkLst>
          <pc:docMk/>
          <pc:sldMk cId="43243380" sldId="2147479491"/>
        </pc:sldMkLst>
        <pc:picChg chg="add del mod">
          <ac:chgData name="Gerald Reymari Acoba Cagayan" userId="aaaa90fe-2f8f-418f-888c-7e1a4f218502" providerId="ADAL" clId="{98506B6F-E64F-4285-BAFE-AF441B581F57}" dt="2026-08-04T05:53:02.555" v="19" actId="478"/>
          <ac:picMkLst>
            <pc:docMk/>
            <pc:sldMk cId="43243380" sldId="2147479491"/>
            <ac:picMk id="4" creationId="{FDF05366-595D-6403-58B9-5F9DBDDCDAF3}"/>
          </ac:picMkLst>
        </pc:picChg>
        <pc:picChg chg="add">
          <ac:chgData name="Gerald Reymari Acoba Cagayan" userId="aaaa90fe-2f8f-418f-888c-7e1a4f218502" providerId="ADAL" clId="{98506B6F-E64F-4285-BAFE-AF441B581F57}" dt="2026-08-04T05:53:02.928" v="20" actId="22"/>
          <ac:picMkLst>
            <pc:docMk/>
            <pc:sldMk cId="43243380" sldId="2147479491"/>
            <ac:picMk id="6" creationId="{ADDEB87B-AFEE-2838-CC06-1B507A18D5C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0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1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9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5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56B0E-8219-2AD9-4108-8753AB78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09114-5926-BC99-142E-18B8242F7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EFA26-23DB-0720-306C-2ACEBFDA3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7D4FC-8ED5-4FB7-4023-226104E4F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1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6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55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endParaRPr lang="es-E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03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4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6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33237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97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85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56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07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200" b="1"/>
              <a:t>Learning Path</a:t>
            </a:r>
          </a:p>
          <a:p>
            <a:pPr marL="288925" indent="-288925">
              <a:spcBef>
                <a:spcPts val="0"/>
              </a:spcBef>
            </a:pPr>
            <a:r>
              <a:rPr lang="en-US" sz="1200">
                <a:latin typeface="Arial"/>
                <a:cs typeface="Arial"/>
              </a:rPr>
              <a:t>Curated content for specific workflows &amp; learning goals</a:t>
            </a:r>
          </a:p>
          <a:p>
            <a:pPr marL="288925" indent="-288925">
              <a:spcBef>
                <a:spcPts val="0"/>
              </a:spcBef>
            </a:pPr>
            <a:r>
              <a:rPr lang="en-US" sz="1200">
                <a:latin typeface="Arial"/>
                <a:cs typeface="Arial"/>
              </a:rPr>
              <a:t>Provide a structured learning journey</a:t>
            </a:r>
          </a:p>
          <a:p>
            <a:pPr marL="288925" indent="-288925">
              <a:spcBef>
                <a:spcPts val="0"/>
              </a:spcBef>
            </a:pPr>
            <a:r>
              <a:rPr lang="en-US" sz="1200">
                <a:latin typeface="Arial"/>
                <a:cs typeface="Arial"/>
              </a:rPr>
              <a:t>Paths show a recommended order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120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200" b="1"/>
              <a:t>Onramp: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200"/>
              <a:t>Introduction to the Online Courses learning interface </a:t>
            </a:r>
            <a:endParaRPr lang="en-US" sz="1050"/>
          </a:p>
          <a:p>
            <a:pPr>
              <a:spcAft>
                <a:spcPts val="1200"/>
              </a:spcAft>
            </a:pPr>
            <a:r>
              <a:rPr lang="en-US" sz="1200"/>
              <a:t>Helps learners get started with tools or applications </a:t>
            </a:r>
          </a:p>
          <a:p>
            <a:r>
              <a:rPr lang="en-US" sz="1200"/>
              <a:t>Sometimes a prerequisite for longer courses</a:t>
            </a:r>
          </a:p>
          <a:p>
            <a:r>
              <a:rPr lang="en-US" sz="1200"/>
              <a:t>Can trial OTS before buying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55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5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Course Designer allows instructors to create content, courseware, labs and assessments for MATLAB and Simulink based courses.</a:t>
            </a:r>
          </a:p>
          <a:p>
            <a:endParaRPr lang="en-US" dirty="0"/>
          </a:p>
          <a:p>
            <a:r>
              <a:rPr lang="en-US" dirty="0"/>
              <a:t>Instructors can…</a:t>
            </a:r>
          </a:p>
          <a:p>
            <a:r>
              <a:rPr lang="en-US" dirty="0"/>
              <a:t>Build structured learning paths with readings, videos, and MATLAB/Simulink exercises</a:t>
            </a:r>
          </a:p>
          <a:p>
            <a:r>
              <a:rPr lang="en-US" dirty="0"/>
              <a:t>Automatically grade student work, including Simulink models</a:t>
            </a:r>
          </a:p>
          <a:p>
            <a:r>
              <a:rPr lang="en-US" dirty="0"/>
              <a:t>Monitor student progress and intervene early </a:t>
            </a:r>
          </a:p>
          <a:p>
            <a:r>
              <a:rPr lang="en-US" dirty="0"/>
              <a:t>And Share content with educators worldwide </a:t>
            </a:r>
          </a:p>
          <a:p>
            <a:endParaRPr lang="en-US" dirty="0"/>
          </a:p>
          <a:p>
            <a:r>
              <a:rPr lang="en-US" dirty="0"/>
              <a:t>And all this great learning content can be integrated into your learning management system using industry standards – just like how MATLAB Grader is integrated for may of our customers today.</a:t>
            </a:r>
          </a:p>
          <a:p>
            <a:endParaRPr lang="en-US" dirty="0"/>
          </a:p>
          <a:p>
            <a:r>
              <a:rPr lang="en-US" dirty="0"/>
              <a:t>The product is available to most of our customers on our academic licenses today, and no additional cost.  You can simply login to course-</a:t>
            </a:r>
            <a:r>
              <a:rPr lang="en-US" dirty="0" err="1"/>
              <a:t>designer.mathworks.com</a:t>
            </a:r>
            <a:r>
              <a:rPr lang="en-US" dirty="0"/>
              <a:t> today and get started.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64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4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EFE56-2268-E243-B780-39B09C57B43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14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86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EFE56-2268-E243-B780-39B09C57B43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74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52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46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www.techsource-asia.com/contact-us" TargetMode="External"/><Relationship Id="rId4" Type="http://schemas.openxmlformats.org/officeDocument/2006/relationships/image" Target="../media/image2.jpeg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echsource-asia.com/contact-u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echsource-asia.com/contact-u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echsource-asia.com/contact-u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echsource-asia.com/contact-u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light, large, blue&#10;&#10;Description automatically generated">
            <a:extLst>
              <a:ext uri="{FF2B5EF4-FFF2-40B4-BE49-F238E27FC236}">
                <a16:creationId xmlns:a16="http://schemas.microsoft.com/office/drawing/2014/main" id="{20A31AAD-9685-4D0F-AA04-D8F1DFE7C9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000" t="29541" r="1000" b="-235"/>
          <a:stretch/>
        </p:blipFill>
        <p:spPr>
          <a:xfrm>
            <a:off x="-126331" y="1091588"/>
            <a:ext cx="12318332" cy="2290439"/>
          </a:xfrm>
          <a:prstGeom prst="flowChartOffpageConnector">
            <a:avLst/>
          </a:prstGeom>
          <a:effectLst>
            <a:outerShdw blurRad="228600" dist="50800" dir="5400000" algn="ctr" rotWithShape="0">
              <a:srgbClr val="000000">
                <a:alpha val="57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C5D2D-4D35-457F-9D51-10E15E0EE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31" y="1091589"/>
            <a:ext cx="10893538" cy="1842112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826E3-54E9-4AFC-854D-E5C6B49C5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B3C2-8190-4931-8B9E-605204E2B035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0A815-7B52-4743-91B7-6933EA03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858A7-F6D7-4239-A356-D5D2D469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CBFD39B-271D-43BC-BFD5-22E62169F2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74" y="6300788"/>
            <a:ext cx="2074278" cy="420687"/>
          </a:xfrm>
          <a:prstGeom prst="rect">
            <a:avLst/>
          </a:prstGeo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72E62BB7-4DFF-486E-9639-6AC32E3C68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52861" y="4111094"/>
            <a:ext cx="6396584" cy="1654706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4572D88-F3E3-43B7-BFAE-CD7C30E974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9748" y="4287245"/>
            <a:ext cx="1295931" cy="1302403"/>
          </a:xfrm>
          <a:prstGeom prst="ellipse">
            <a:avLst/>
          </a:prstGeom>
          <a:effectLst>
            <a:softEdge rad="31750"/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Content Placeholder 4">
            <a:hlinkClick r:id="rId5"/>
            <a:extLst>
              <a:ext uri="{FF2B5EF4-FFF2-40B4-BE49-F238E27FC236}">
                <a16:creationId xmlns:a16="http://schemas.microsoft.com/office/drawing/2014/main" id="{625EBB21-66CC-4360-23C2-20A315ED02D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562" y="238806"/>
            <a:ext cx="2066925" cy="726463"/>
          </a:xfrm>
          <a:prstGeom prst="rect">
            <a:avLst/>
          </a:prstGeom>
        </p:spPr>
      </p:pic>
      <p:pic>
        <p:nvPicPr>
          <p:cNvPr id="12" name="Picture 11" descr="A picture containing mirror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4F8E6162-6E80-794B-5946-D7C9109217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2" y="356768"/>
            <a:ext cx="3108578" cy="490538"/>
          </a:xfrm>
          <a:prstGeom prst="rect">
            <a:avLst/>
          </a:prstGeom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3D0D2E7D-65FD-BAEE-2C28-146A4B955E6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5499336"/>
            <a:ext cx="4114800" cy="1123479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47F20F7-FC66-B6D0-C803-26C88B43B9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575" y="4604020"/>
            <a:ext cx="2941700" cy="165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2493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8422-0FCE-4321-856F-428A7B00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07D68-A15F-4C8F-95E6-287FE6170E6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F622-A425-465D-8B8F-1AE3446D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D00C7-2739-4A9D-9C3F-054E9666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Content Placeholder 4">
            <a:hlinkClick r:id="rId2"/>
            <a:extLst>
              <a:ext uri="{FF2B5EF4-FFF2-40B4-BE49-F238E27FC236}">
                <a16:creationId xmlns:a16="http://schemas.microsoft.com/office/drawing/2014/main" id="{31965502-39B5-6592-227F-85FF54C3D8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598" y="78093"/>
            <a:ext cx="1390564" cy="488742"/>
          </a:xfrm>
          <a:prstGeom prst="rect">
            <a:avLst/>
          </a:prstGeom>
        </p:spPr>
      </p:pic>
      <p:pic>
        <p:nvPicPr>
          <p:cNvPr id="12" name="Picture 11" descr="A picture containing mirror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D9604C6-0F3E-910E-B471-A93C73135A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588" y="157454"/>
            <a:ext cx="2091354" cy="33001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8EC7553-D84D-A650-3262-9AAEB51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64B5B1-1259-32C7-8310-3744DD7E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769600" cy="4648200"/>
          </a:xfrm>
        </p:spPr>
        <p:txBody>
          <a:bodyPr/>
          <a:lstStyle>
            <a:lvl1pPr>
              <a:buSzPct val="75000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buSzPct val="75000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98454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8ADB-5865-4E39-86CD-9E718FF2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FCBD-7A0F-4463-A995-EC41B485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13AA9-FCB9-4F81-A46C-2F0147E9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02E7E-FAC0-4319-B293-E6EAEEA5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BC54-0049-4134-B94C-9200EA9B6DBC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AF4AA-A388-4CAB-AB41-BEB08A4B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4A254-086C-456F-AF61-B4B2F7DD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Content Placeholder 4">
            <a:hlinkClick r:id="rId2"/>
            <a:extLst>
              <a:ext uri="{FF2B5EF4-FFF2-40B4-BE49-F238E27FC236}">
                <a16:creationId xmlns:a16="http://schemas.microsoft.com/office/drawing/2014/main" id="{ECF37304-3D6F-3CF3-3BEB-37C1D11E82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598" y="78093"/>
            <a:ext cx="1390564" cy="488742"/>
          </a:xfrm>
          <a:prstGeom prst="rect">
            <a:avLst/>
          </a:prstGeom>
        </p:spPr>
      </p:pic>
      <p:pic>
        <p:nvPicPr>
          <p:cNvPr id="13" name="Picture 12" descr="A picture containing mirror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0B7736EB-3109-8184-BF22-991DD80900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588" y="157454"/>
            <a:ext cx="2091354" cy="33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109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B0C96-7C46-47EB-A208-1C91E752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1395-7FEF-418B-ACBE-2DB5042CBA18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F25C5-257D-48A0-8230-404A7922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C6D32-739B-4F39-9C7A-C5FDB2B8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4">
            <a:hlinkClick r:id="rId2"/>
            <a:extLst>
              <a:ext uri="{FF2B5EF4-FFF2-40B4-BE49-F238E27FC236}">
                <a16:creationId xmlns:a16="http://schemas.microsoft.com/office/drawing/2014/main" id="{6C96E371-F2B9-8E8F-F425-D46A27A5C5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598" y="78093"/>
            <a:ext cx="1390564" cy="488742"/>
          </a:xfrm>
          <a:prstGeom prst="rect">
            <a:avLst/>
          </a:prstGeom>
        </p:spPr>
      </p:pic>
      <p:pic>
        <p:nvPicPr>
          <p:cNvPr id="8" name="Picture 7" descr="A picture containing mirror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3F32FA71-003C-E584-0F8F-BBE88F9638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588" y="157454"/>
            <a:ext cx="2091354" cy="3300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501836-7414-4DD8-CFB1-BF009B88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31181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CEA93-29DD-4BDC-AC57-077C4A94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F30D-2CC5-4FA6-85EA-138479845CF6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45A3A-29FD-4DC9-A0FA-F4750413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716B9-7C8C-4C9C-8A1E-B0C63882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Content Placeholder 4">
            <a:hlinkClick r:id="rId2"/>
            <a:extLst>
              <a:ext uri="{FF2B5EF4-FFF2-40B4-BE49-F238E27FC236}">
                <a16:creationId xmlns:a16="http://schemas.microsoft.com/office/drawing/2014/main" id="{55C67229-F1C7-E4EC-D524-512C2506AE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632" y="136525"/>
            <a:ext cx="1390564" cy="488742"/>
          </a:xfrm>
          <a:prstGeom prst="rect">
            <a:avLst/>
          </a:prstGeom>
        </p:spPr>
      </p:pic>
      <p:pic>
        <p:nvPicPr>
          <p:cNvPr id="12" name="Picture 11" descr="A picture containing mirror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768B800-7B00-FC3D-FE8C-FD898D08D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622" y="215886"/>
            <a:ext cx="2091354" cy="33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3291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3E77-4488-6589-3CEE-29C7B3385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E81AF-6F9D-D616-A5D6-945F6C74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2580-58E6-4584-BDB1-7F111860B844}" type="datetimeFigureOut">
              <a:rPr lang="en-PH" smtClean="0"/>
              <a:t>24/09/2026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EFEAC-A2A7-E233-089A-BA667B72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66E70-131F-5808-63B8-D940EACC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5F25E-4F77-4583-AD20-FE41E3A11DE0}" type="slidenum">
              <a:rPr lang="en-PH" smtClean="0"/>
              <a:t>‹#›</a:t>
            </a:fld>
            <a:endParaRPr lang="en-PH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A2B22CC4-0640-5507-01D8-3D550D5AC0A0}"/>
              </a:ext>
            </a:extLst>
          </p:cNvPr>
          <p:cNvSpPr/>
          <p:nvPr userDrawn="1"/>
        </p:nvSpPr>
        <p:spPr>
          <a:xfrm>
            <a:off x="10091159" y="107406"/>
            <a:ext cx="1836968" cy="644609"/>
          </a:xfrm>
          <a:custGeom>
            <a:avLst/>
            <a:gdLst>
              <a:gd name="f0" fmla="val w"/>
              <a:gd name="f1" fmla="val h"/>
              <a:gd name="f2" fmla="val 0"/>
              <a:gd name="f3" fmla="val 2755452"/>
              <a:gd name="f4" fmla="val 966913"/>
              <a:gd name="f5" fmla="val 2755453"/>
              <a:gd name="f6" fmla="*/ f0 1 2755452"/>
              <a:gd name="f7" fmla="*/ f1 1 966913"/>
              <a:gd name="f8" fmla="+- f4 0 f2"/>
              <a:gd name="f9" fmla="+- f3 0 f2"/>
              <a:gd name="f10" fmla="*/ f9 1 2755452"/>
              <a:gd name="f11" fmla="*/ f8 1 966913"/>
              <a:gd name="f12" fmla="*/ f2 1 f10"/>
              <a:gd name="f13" fmla="*/ f3 1 f10"/>
              <a:gd name="f14" fmla="*/ f2 1 f11"/>
              <a:gd name="f15" fmla="*/ f4 1 f11"/>
              <a:gd name="f16" fmla="*/ f12 f6 1"/>
              <a:gd name="f17" fmla="*/ f13 f6 1"/>
              <a:gd name="f18" fmla="*/ f15 f7 1"/>
              <a:gd name="f19" fmla="*/ f14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2755452" h="966913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60960" tIns="30480" rIns="60960" bIns="30480" anchor="t" anchorCtr="0" compatLnSpc="1">
            <a:noAutofit/>
          </a:bodyPr>
          <a:lstStyle/>
          <a:p>
            <a:pPr marL="0" marR="0" lvl="0" indent="0" algn="l" defTabSz="60963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55C5E1D0-2117-7424-9310-2D1876A6677B}"/>
              </a:ext>
            </a:extLst>
          </p:cNvPr>
          <p:cNvSpPr/>
          <p:nvPr userDrawn="1"/>
        </p:nvSpPr>
        <p:spPr>
          <a:xfrm>
            <a:off x="7394509" y="175699"/>
            <a:ext cx="2549639" cy="512819"/>
          </a:xfrm>
          <a:custGeom>
            <a:avLst/>
            <a:gdLst>
              <a:gd name="f0" fmla="val w"/>
              <a:gd name="f1" fmla="val h"/>
              <a:gd name="f2" fmla="val 0"/>
              <a:gd name="f3" fmla="val 3824464"/>
              <a:gd name="f4" fmla="val 769227"/>
              <a:gd name="f5" fmla="val 769226"/>
              <a:gd name="f6" fmla="*/ f0 1 3824464"/>
              <a:gd name="f7" fmla="*/ f1 1 769227"/>
              <a:gd name="f8" fmla="+- f4 0 f2"/>
              <a:gd name="f9" fmla="+- f3 0 f2"/>
              <a:gd name="f10" fmla="*/ f9 1 3824464"/>
              <a:gd name="f11" fmla="*/ f8 1 769227"/>
              <a:gd name="f12" fmla="*/ f2 1 f10"/>
              <a:gd name="f13" fmla="*/ f3 1 f10"/>
              <a:gd name="f14" fmla="*/ f2 1 f11"/>
              <a:gd name="f15" fmla="*/ f4 1 f11"/>
              <a:gd name="f16" fmla="*/ f12 f6 1"/>
              <a:gd name="f17" fmla="*/ f13 f6 1"/>
              <a:gd name="f18" fmla="*/ f15 f7 1"/>
              <a:gd name="f19" fmla="*/ f14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824464" h="769227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60960" tIns="30480" rIns="60960" bIns="30480" anchor="t" anchorCtr="0" compatLnSpc="1">
            <a:noAutofit/>
          </a:bodyPr>
          <a:lstStyle/>
          <a:p>
            <a:pPr marL="0" marR="0" lvl="0" indent="0" algn="l" defTabSz="60963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AC0C1D24-3D2B-7E78-F74F-ABD4A221FE7F}"/>
              </a:ext>
            </a:extLst>
          </p:cNvPr>
          <p:cNvSpPr/>
          <p:nvPr userDrawn="1"/>
        </p:nvSpPr>
        <p:spPr>
          <a:xfrm>
            <a:off x="453767" y="6343918"/>
            <a:ext cx="11284464" cy="1028169"/>
          </a:xfrm>
          <a:custGeom>
            <a:avLst/>
            <a:gdLst>
              <a:gd name="f0" fmla="val w"/>
              <a:gd name="f1" fmla="val h"/>
              <a:gd name="f2" fmla="val 0"/>
              <a:gd name="f3" fmla="val 58960500"/>
              <a:gd name="f4" fmla="val 5372100"/>
              <a:gd name="f5" fmla="val 57409829"/>
              <a:gd name="f6" fmla="val 1550670"/>
              <a:gd name="f7" fmla="val 2686050"/>
              <a:gd name="f8" fmla="*/ f0 1 58960500"/>
              <a:gd name="f9" fmla="*/ f1 1 5372100"/>
              <a:gd name="f10" fmla="+- f4 0 f2"/>
              <a:gd name="f11" fmla="+- f3 0 f2"/>
              <a:gd name="f12" fmla="*/ f11 1 58960500"/>
              <a:gd name="f13" fmla="*/ f10 1 5372100"/>
              <a:gd name="f14" fmla="*/ f2 1 f12"/>
              <a:gd name="f15" fmla="*/ f3 1 f12"/>
              <a:gd name="f16" fmla="*/ f2 1 f13"/>
              <a:gd name="f17" fmla="*/ f4 1 f13"/>
              <a:gd name="f18" fmla="*/ f14 f8 1"/>
              <a:gd name="f19" fmla="*/ f15 f8 1"/>
              <a:gd name="f20" fmla="*/ f17 f9 1"/>
              <a:gd name="f21" fmla="*/ f16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8960500" h="5372100">
                <a:moveTo>
                  <a:pt x="f5" y="f2"/>
                </a:moveTo>
                <a:lnTo>
                  <a:pt x="f6" y="f2"/>
                </a:lnTo>
                <a:lnTo>
                  <a:pt x="f2" y="f7"/>
                </a:lnTo>
                <a:lnTo>
                  <a:pt x="f6" y="f4"/>
                </a:lnTo>
                <a:lnTo>
                  <a:pt x="f5" y="f4"/>
                </a:lnTo>
                <a:lnTo>
                  <a:pt x="f3" y="f7"/>
                </a:lnTo>
                <a:lnTo>
                  <a:pt x="f5" y="f2"/>
                </a:lnTo>
                <a:close/>
              </a:path>
            </a:pathLst>
          </a:custGeom>
          <a:solidFill>
            <a:srgbClr val="00CCFF"/>
          </a:solidFill>
          <a:ln cap="flat">
            <a:noFill/>
            <a:prstDash val="solid"/>
          </a:ln>
        </p:spPr>
        <p:txBody>
          <a:bodyPr vert="horz" wrap="square" lIns="60960" tIns="30480" rIns="60960" bIns="30480" anchor="t" anchorCtr="0" compatLnSpc="1">
            <a:noAutofit/>
          </a:bodyPr>
          <a:lstStyle/>
          <a:p>
            <a:pPr marL="0" marR="0" lvl="0" indent="0" algn="l" defTabSz="60963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809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ssertion Evidenc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1813BC3-6186-464B-970A-3CEC00443B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09012" y="2391568"/>
            <a:ext cx="2590800" cy="1922463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0" i="0" ker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Image for Topic 3</a:t>
            </a:r>
            <a:endParaRPr lang="en-US" sz="2800" b="0" i="0" kern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6240D06-94E7-054E-8FC6-86B45003F6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00600" y="2393950"/>
            <a:ext cx="2590800" cy="1920875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0" i="0" ker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Image for Topic 2</a:t>
            </a:r>
            <a:endParaRPr lang="en-US" sz="2800" b="0" i="0" kern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D8C8300-06F6-394A-BA8D-64E8901DF8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4568" y="2391569"/>
            <a:ext cx="2590800" cy="1922462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0" i="0" ker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Image for Topic 1</a:t>
            </a:r>
            <a:endParaRPr lang="en-US" sz="2800" b="0" i="0" kern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359A469-CE43-F144-8215-3FCBBF16DF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568" y="4413091"/>
            <a:ext cx="2590800" cy="533400"/>
          </a:xfr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Topic 1 label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94CA51C-EBB3-0848-A72C-B440DD2FA9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600" y="4413091"/>
            <a:ext cx="2590800" cy="533400"/>
          </a:xfr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Topic 2 label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C12F1624-BA60-B04A-9FA5-9D6A0A5810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09012" y="4413091"/>
            <a:ext cx="2590800" cy="533400"/>
          </a:xfr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/>
              <a:t>Topic 3 label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EA66AA-8CF7-430D-8EAD-E6469706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This presentation focuses on… (complete sentence, but go no more than two lines)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71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86F6F-5D63-4957-B1B6-14736A4B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206B-F6CA-4914-A82D-9C00994D4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003D1-83EE-4E83-835F-06643BC3F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00DD-4F8F-4D3B-B2AE-DF5FBBD9EF2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2E836-3B31-4862-A5C2-C4DA95C47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81A8F-B261-44F0-9B4E-88CCED364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03FC6-2C46-41B9-8E3F-DCE81AF2A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63A6"/>
          </a:solidFill>
          <a:latin typeface="Avenir Heavy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55 Roma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55 Roma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LT 55 Roma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55 Roma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55 Roma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company/user_stories/advancing-student-learning-with-symbolic-math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e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jpe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thworks.com/products/matlab-online.html" TargetMode="External"/><Relationship Id="rId3" Type="http://schemas.openxmlformats.org/officeDocument/2006/relationships/hyperlink" Target="https://matlabacademy.mathworks.com/" TargetMode="External"/><Relationship Id="rId7" Type="http://schemas.openxmlformats.org/officeDocument/2006/relationships/hyperlink" Target="https://matlabacademy.mathworks.com/details/teaching-with-matlab/instructoronboar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atlabacademy.mathworks.com/details/matlab-onramp/gettingstarted" TargetMode="External"/><Relationship Id="rId5" Type="http://schemas.openxmlformats.org/officeDocument/2006/relationships/hyperlink" Target="https://www.mathworks.com/academia/educators.html" TargetMode="External"/><Relationship Id="rId4" Type="http://schemas.openxmlformats.org/officeDocument/2006/relationships/hyperlink" Target="https://www.mathworks.com/products/matlab-grader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thworks.com/products/startups.html" TargetMode="External"/><Relationship Id="rId3" Type="http://schemas.openxmlformats.org/officeDocument/2006/relationships/hyperlink" Target="https://www.mathworks.com/products/matlab/live-editor.html" TargetMode="External"/><Relationship Id="rId7" Type="http://schemas.openxmlformats.org/officeDocument/2006/relationships/hyperlink" Target="https://www.mathworks.com/discovery/computational-thinking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mathworks.com/matlabcentral/fileexchange/" TargetMode="External"/><Relationship Id="rId5" Type="http://schemas.openxmlformats.org/officeDocument/2006/relationships/hyperlink" Target="https://www.mathworks.com/products/matlab-drive.html" TargetMode="External"/><Relationship Id="rId4" Type="http://schemas.openxmlformats.org/officeDocument/2006/relationships/hyperlink" Target="https://www.mathworks.com/products/matlab-parallel-server.html" TargetMode="External"/><Relationship Id="rId9" Type="http://schemas.openxmlformats.org/officeDocument/2006/relationships/hyperlink" Target="https://www.mathworks.com/hardware-support/home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labacademy.mathworks.com/?s_tid=ots_explore&amp;fq=online-training-suite" TargetMode="Externa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labacademy.mathworks.com/?page=1&amp;fq=online-training-suite&amp;sort=feature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hyperlink" Target="https://matlabacademy.mathworks.com/?page=1&amp;fq=learning-path&amp;sort=featured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academia/educators.html?s_tid=nav_learn_teach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urse-designer.mathworks.com/" TargetMode="Externa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jpeg"/><Relationship Id="rId4" Type="http://schemas.openxmlformats.org/officeDocument/2006/relationships/image" Target="../media/image5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0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svg"/><Relationship Id="rId5" Type="http://schemas.openxmlformats.org/officeDocument/2006/relationships/image" Target="../media/image57.svg"/><Relationship Id="rId4" Type="http://schemas.openxmlformats.org/officeDocument/2006/relationships/hyperlink" Target="https://www.mathworks.com/products/matlab-grader.html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70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69.png"/><Relationship Id="rId11" Type="http://schemas.openxmlformats.org/officeDocument/2006/relationships/image" Target="../media/image74.svg"/><Relationship Id="rId5" Type="http://schemas.openxmlformats.org/officeDocument/2006/relationships/image" Target="../media/image68.sv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gif"/><Relationship Id="rId2" Type="http://schemas.openxmlformats.org/officeDocument/2006/relationships/image" Target="../media/image80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6C11-F062-5545-A532-5C9B48B213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Enhance Teaching and Learning</a:t>
            </a:r>
            <a:br>
              <a:rPr lang="en-US" dirty="0"/>
            </a:br>
            <a:r>
              <a:rPr lang="en-US" dirty="0"/>
              <a:t>with MATLAB and GenAI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62C3A-8305-03FF-6866-680530A7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3D4EF-D9BC-7BBD-6840-A77160B14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52860" y="4111094"/>
            <a:ext cx="8819391" cy="1654706"/>
          </a:xfrm>
        </p:spPr>
        <p:txBody>
          <a:bodyPr>
            <a:normAutofit/>
          </a:bodyPr>
          <a:lstStyle/>
          <a:p>
            <a:r>
              <a:rPr lang="en-US" dirty="0"/>
              <a:t>Gerald Reymari Cagayan</a:t>
            </a:r>
          </a:p>
          <a:p>
            <a:r>
              <a:rPr lang="en-ID" b="0" i="1" dirty="0"/>
              <a:t>Application Engineer</a:t>
            </a:r>
          </a:p>
          <a:p>
            <a:r>
              <a:rPr lang="en-ID" b="0" dirty="0" err="1"/>
              <a:t>TechSource</a:t>
            </a:r>
            <a:r>
              <a:rPr lang="en-ID" b="0" dirty="0"/>
              <a:t> Computing Solutions, Inc.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4AA535D-FC5B-96E9-2F2C-467F97C62EA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7" b="11297"/>
          <a:stretch>
            <a:fillRect/>
          </a:stretch>
        </p:blipFill>
        <p:spPr>
          <a:xfrm>
            <a:off x="1026015" y="4171212"/>
            <a:ext cx="1526845" cy="1534470"/>
          </a:xfrm>
          <a:prstGeom prst="ellipse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11490694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3FC0D-6F41-BB86-9D20-A6983204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C7957-26AC-B86C-FF8F-33E0CD7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1825050"/>
            <a:ext cx="10769600" cy="990600"/>
          </a:xfrm>
        </p:spPr>
        <p:txBody>
          <a:bodyPr>
            <a:normAutofit/>
          </a:bodyPr>
          <a:lstStyle/>
          <a:p>
            <a:pPr algn="ctr"/>
            <a:r>
              <a:rPr lang="en-PH" sz="4400" dirty="0"/>
              <a:t>https://tinyurl.com/USAMATLABPortal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8838C6C-A2CD-2B46-2666-DEE2B16313AF}"/>
              </a:ext>
            </a:extLst>
          </p:cNvPr>
          <p:cNvSpPr txBox="1">
            <a:spLocks/>
          </p:cNvSpPr>
          <p:nvPr/>
        </p:nvSpPr>
        <p:spPr>
          <a:xfrm>
            <a:off x="711200" y="34290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PH" sz="4400" dirty="0"/>
              <a:t>https://tinyurl.com/USAMATLAB</a:t>
            </a:r>
          </a:p>
        </p:txBody>
      </p:sp>
    </p:spTree>
    <p:extLst>
      <p:ext uri="{BB962C8B-B14F-4D97-AF65-F5344CB8AC3E}">
        <p14:creationId xmlns:p14="http://schemas.microsoft.com/office/powerpoint/2010/main" val="19511006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94AF-A82F-1F19-F455-13933061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884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PH" sz="6000" dirty="0"/>
              <a:t>https://tinyurl.com/USAMATLAB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D938-531F-50F5-7488-963F0568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5F25E-4F77-4583-AD20-FE41E3A11DE0}" type="slidenum">
              <a:rPr lang="en-PH" smtClean="0"/>
              <a:t>3</a:t>
            </a:fld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EF61F-58B4-681C-C8B1-94122BFEC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6" t="9847" r="24646" b="28291"/>
          <a:stretch>
            <a:fillRect/>
          </a:stretch>
        </p:blipFill>
        <p:spPr>
          <a:xfrm>
            <a:off x="1097564" y="2576325"/>
            <a:ext cx="15026071" cy="31145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9E33AB-C96D-DED3-C9DC-1467451912CF}"/>
              </a:ext>
            </a:extLst>
          </p:cNvPr>
          <p:cNvSpPr/>
          <p:nvPr/>
        </p:nvSpPr>
        <p:spPr>
          <a:xfrm>
            <a:off x="3183876" y="4500683"/>
            <a:ext cx="3492346" cy="55605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66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326217" cy="1325563"/>
          </a:xfrm>
        </p:spPr>
        <p:txBody>
          <a:bodyPr/>
          <a:lstStyle/>
          <a:p>
            <a:r>
              <a:rPr lang="en-US" sz="2667" dirty="0">
                <a:latin typeface="Arial"/>
                <a:cs typeface="Arial"/>
              </a:rPr>
              <a:t>Teaching Students to Solve Complex Heat and Mass Transfer Problems with MATLAB </a:t>
            </a:r>
            <a:endParaRPr lang="en-US" sz="2667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6264275" cy="4648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NJIT professor uses MATLAB, Symbolic Math Toolbox, and Partial Differential Equation Toolbox to teach students how to solve heat and mass transfer problems, better preparing them for complex, real-world applications. </a:t>
            </a:r>
          </a:p>
          <a:p>
            <a:pPr marL="0" indent="0">
              <a:spcBef>
                <a:spcPts val="864"/>
              </a:spcBef>
              <a:buClr>
                <a:srgbClr val="215083"/>
              </a:buClr>
              <a:buSzTx/>
              <a:buNone/>
            </a:pPr>
            <a:endParaRPr lang="en-US" sz="1800" b="1" dirty="0">
              <a:solidFill>
                <a:srgbClr val="125687"/>
              </a:solidFill>
              <a:latin typeface="Arial"/>
              <a:cs typeface="+mn-cs"/>
            </a:endParaRPr>
          </a:p>
          <a:p>
            <a:pPr marL="0" indent="0">
              <a:spcBef>
                <a:spcPts val="864"/>
              </a:spcBef>
              <a:buClr>
                <a:srgbClr val="215083"/>
              </a:buClr>
              <a:buSzTx/>
              <a:buNone/>
            </a:pPr>
            <a:r>
              <a:rPr lang="en-US" sz="1800" b="1" dirty="0">
                <a:solidFill>
                  <a:srgbClr val="125687"/>
                </a:solidFill>
                <a:latin typeface="Arial"/>
                <a:cs typeface="+mn-cs"/>
              </a:rPr>
              <a:t>Key Outcomes</a:t>
            </a:r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prstClr val="black"/>
                </a:solidFill>
                <a:latin typeface="Arial"/>
                <a:cs typeface="Times New Roman" pitchFamily="18" charset="0"/>
              </a:rPr>
              <a:t>MATLAB enabled students to master engineering concepts while executing math operations error-free</a:t>
            </a:r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r>
              <a:rPr lang="en-US" sz="1800" dirty="0"/>
              <a:t>Powerful visualizations helped students validate their assumptions when solving heat and mass transfer problems</a:t>
            </a:r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r>
              <a:rPr lang="en-US" sz="1800" dirty="0"/>
              <a:t>Using MATLAB, students gained the necessary problem-solving abilities needed to address real-world engineering challenges</a:t>
            </a:r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endParaRPr lang="en-US" sz="1800" dirty="0"/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endParaRPr lang="en-US" sz="1800" dirty="0"/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endParaRPr lang="en-US" sz="1800" dirty="0"/>
          </a:p>
          <a:p>
            <a:pPr marL="452955" lvl="1" indent="-300559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Font typeface="Wingdings" pitchFamily="2" charset="2"/>
              <a:buChar char="§"/>
            </a:pPr>
            <a:endParaRPr lang="en-US" sz="1800" dirty="0"/>
          </a:p>
          <a:p>
            <a:pPr marL="152396" lvl="1" indent="0">
              <a:lnSpc>
                <a:spcPct val="100000"/>
              </a:lnSpc>
              <a:spcBef>
                <a:spcPts val="240"/>
              </a:spcBef>
              <a:buClr>
                <a:srgbClr val="125687"/>
              </a:buClr>
              <a:buNone/>
            </a:pPr>
            <a:endParaRPr lang="en-US" sz="1800" dirty="0">
              <a:solidFill>
                <a:prstClr val="black"/>
              </a:solidFill>
              <a:latin typeface="Arial"/>
              <a:cs typeface="Times New Roman" pitchFamily="18" charset="0"/>
            </a:endParaRPr>
          </a:p>
          <a:p>
            <a:endParaRPr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7138000" y="4008528"/>
            <a:ext cx="4596533" cy="18809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333" i="1">
                <a:solidFill>
                  <a:schemeClr val="tx2"/>
                </a:solidFill>
              </a:rPr>
              <a:t>“MATLAB can be used to automate complex math calculations, which allows more time for students to learn engineering problem-solving skills and extrapolate those skills to more complex, real-world applications beyond just heat and mass transfer.”</a:t>
            </a:r>
            <a:br>
              <a:rPr lang="en-US" sz="1467" i="1">
                <a:solidFill>
                  <a:schemeClr val="tx2"/>
                </a:solidFill>
                <a:ea typeface="Arial Unicode MS" pitchFamily="34" charset="-128"/>
                <a:cs typeface="Arial Unicode MS" pitchFamily="34" charset="-128"/>
              </a:rPr>
            </a:br>
            <a:r>
              <a:rPr lang="en-US" sz="1200" i="1">
                <a:solidFill>
                  <a:schemeClr val="tx2"/>
                </a:solidFill>
                <a:ea typeface="Arial Unicode MS" pitchFamily="34" charset="-128"/>
                <a:cs typeface="Arial Unicode MS" pitchFamily="34" charset="-128"/>
              </a:rPr>
              <a:t>- Donald Sebastian, professor of chemicals and materials engineering, New Jersey Institute of Technology</a:t>
            </a:r>
            <a:endParaRPr lang="en-US" sz="1200" i="1">
              <a:solidFill>
                <a:schemeClr val="tx2"/>
              </a:solidFill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7460799" y="3182779"/>
            <a:ext cx="405306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21920" rIns="0" bIns="0">
            <a:spAutoFit/>
          </a:bodyPr>
          <a:lstStyle/>
          <a:p>
            <a:r>
              <a:rPr lang="en-US" sz="1067" b="1">
                <a:solidFill>
                  <a:schemeClr val="tx2"/>
                </a:solidFill>
              </a:rPr>
              <a:t>Development of a thermal profile tube flow numerical solution.</a:t>
            </a:r>
          </a:p>
          <a:p>
            <a:endParaRPr lang="en-US" sz="1333" b="1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B4CAA-7348-4B10-8BDF-93C29ADCF00A}"/>
              </a:ext>
            </a:extLst>
          </p:cNvPr>
          <p:cNvSpPr txBox="1"/>
          <p:nvPr/>
        </p:nvSpPr>
        <p:spPr>
          <a:xfrm>
            <a:off x="140133" y="6448855"/>
            <a:ext cx="3826067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>
                <a:latin typeface="Arial" pitchFamily="34" charset="0"/>
                <a:cs typeface="Arial" pitchFamily="34" charset="0"/>
                <a:hlinkClick r:id="rId3"/>
              </a:rPr>
              <a:t>Link to user story</a:t>
            </a:r>
            <a:endParaRPr lang="en-US" sz="1333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Clockwise from top left: Equations describing an analytical solution for a thermal profile in a tube problem, MATLAB code for the solution, and a graphical visualization of the solution.">
            <a:extLst>
              <a:ext uri="{FF2B5EF4-FFF2-40B4-BE49-F238E27FC236}">
                <a16:creationId xmlns:a16="http://schemas.microsoft.com/office/drawing/2014/main" id="{4A765A60-6EDE-33BA-ABF5-3931005EA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995" y="1468149"/>
            <a:ext cx="4818671" cy="1807001"/>
          </a:xfrm>
          <a:prstGeom prst="rect">
            <a:avLst/>
          </a:prstGeom>
          <a:noFill/>
          <a:ln w="19050">
            <a:solidFill>
              <a:srgbClr val="024C8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9054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D9FD-37B1-14C4-85FD-AEBF7728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5F68-2500-9D77-C642-33063757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We’re going to Discuss?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9BB47D1-17F6-DE8E-8359-B19BCB33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5</a:t>
            </a:fld>
            <a:endParaRPr lang="en-US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EE19A28A-29C0-4237-1C8C-D6FE471CF207}"/>
              </a:ext>
            </a:extLst>
          </p:cNvPr>
          <p:cNvSpPr/>
          <p:nvPr/>
        </p:nvSpPr>
        <p:spPr>
          <a:xfrm>
            <a:off x="1538744" y="1595550"/>
            <a:ext cx="2589345" cy="65921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itchFamily="34" charset="0"/>
                <a:cs typeface="Arial" pitchFamily="34" charset="0"/>
              </a:rPr>
              <a:t>MathWorks Products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54A147B6-8716-2D60-C9FC-01D34C709E40}"/>
              </a:ext>
            </a:extLst>
          </p:cNvPr>
          <p:cNvSpPr/>
          <p:nvPr/>
        </p:nvSpPr>
        <p:spPr>
          <a:xfrm>
            <a:off x="1538744" y="2856209"/>
            <a:ext cx="2804656" cy="64131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itchFamily="34" charset="0"/>
                <a:cs typeface="Arial" pitchFamily="34" charset="0"/>
              </a:rPr>
              <a:t>Teaching with MATLAB 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41C021FD-7984-D16F-C9D1-C3B1AB006214}"/>
              </a:ext>
            </a:extLst>
          </p:cNvPr>
          <p:cNvSpPr/>
          <p:nvPr/>
        </p:nvSpPr>
        <p:spPr>
          <a:xfrm>
            <a:off x="1538744" y="5233005"/>
            <a:ext cx="2106950" cy="712545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itchFamily="34" charset="0"/>
                <a:cs typeface="Arial" pitchFamily="34" charset="0"/>
              </a:rPr>
              <a:t>MATLAB Copilot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B4BF1C51-9D6C-7489-33BF-9FAFDB1A8003}"/>
              </a:ext>
            </a:extLst>
          </p:cNvPr>
          <p:cNvSpPr/>
          <p:nvPr/>
        </p:nvSpPr>
        <p:spPr>
          <a:xfrm>
            <a:off x="1538744" y="4228138"/>
            <a:ext cx="2227140" cy="61602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itchFamily="34" charset="0"/>
                <a:cs typeface="Arial" pitchFamily="34" charset="0"/>
              </a:rPr>
              <a:t>MATLAB Features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A4A66D-6688-58E0-DB19-B2A2F93EEB10}"/>
              </a:ext>
            </a:extLst>
          </p:cNvPr>
          <p:cNvSpPr txBox="1"/>
          <p:nvPr/>
        </p:nvSpPr>
        <p:spPr>
          <a:xfrm>
            <a:off x="708585" y="2992803"/>
            <a:ext cx="77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DB0D5-3709-0400-B0EE-504DDDCF1387}"/>
              </a:ext>
            </a:extLst>
          </p:cNvPr>
          <p:cNvSpPr txBox="1"/>
          <p:nvPr/>
        </p:nvSpPr>
        <p:spPr>
          <a:xfrm>
            <a:off x="708585" y="1745143"/>
            <a:ext cx="77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FE5AF-A344-5E5B-3D52-AD9670685A03}"/>
              </a:ext>
            </a:extLst>
          </p:cNvPr>
          <p:cNvSpPr txBox="1"/>
          <p:nvPr/>
        </p:nvSpPr>
        <p:spPr>
          <a:xfrm>
            <a:off x="708585" y="4351483"/>
            <a:ext cx="77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AC5079-3C5F-227F-4EDB-0E0E0386D6EE}"/>
              </a:ext>
            </a:extLst>
          </p:cNvPr>
          <p:cNvSpPr txBox="1"/>
          <p:nvPr/>
        </p:nvSpPr>
        <p:spPr>
          <a:xfrm>
            <a:off x="708585" y="5404611"/>
            <a:ext cx="77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74833-047D-E939-39AF-2776FB0742D6}"/>
              </a:ext>
            </a:extLst>
          </p:cNvPr>
          <p:cNvSpPr txBox="1"/>
          <p:nvPr/>
        </p:nvSpPr>
        <p:spPr>
          <a:xfrm>
            <a:off x="5088733" y="1609315"/>
            <a:ext cx="6290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MATLAB, Simulink &amp; Toolbox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MATLAB &amp; Simulink Online, and MATLAB Drive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C3481-A7AE-F716-ED22-45F01FBD4D84}"/>
              </a:ext>
            </a:extLst>
          </p:cNvPr>
          <p:cNvSpPr txBox="1"/>
          <p:nvPr/>
        </p:nvSpPr>
        <p:spPr>
          <a:xfrm>
            <a:off x="5088730" y="2515150"/>
            <a:ext cx="57126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Challenges in Teaching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MATLAB in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Course Mapping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Campus Wide License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B20BD-0988-2ADF-6A84-2BA804F6C686}"/>
              </a:ext>
            </a:extLst>
          </p:cNvPr>
          <p:cNvSpPr txBox="1"/>
          <p:nvPr/>
        </p:nvSpPr>
        <p:spPr>
          <a:xfrm>
            <a:off x="5088730" y="4032968"/>
            <a:ext cx="4269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Live 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Online Training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Course Mapping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F3FA99-16E0-3281-2F95-488ADCA35506}"/>
              </a:ext>
            </a:extLst>
          </p:cNvPr>
          <p:cNvSpPr txBox="1"/>
          <p:nvPr/>
        </p:nvSpPr>
        <p:spPr>
          <a:xfrm>
            <a:off x="5088729" y="5237664"/>
            <a:ext cx="4269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Teaching in the Era of GenAI.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Student Competitions.</a:t>
            </a:r>
          </a:p>
        </p:txBody>
      </p:sp>
    </p:spTree>
    <p:extLst>
      <p:ext uri="{BB962C8B-B14F-4D97-AF65-F5344CB8AC3E}">
        <p14:creationId xmlns:p14="http://schemas.microsoft.com/office/powerpoint/2010/main" val="34544673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D8B0A-5B74-838B-D0C4-D578A32D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BFD557-361D-37DB-F567-3E5C6C4E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FB95AC94-3774-A468-0000-1512797C419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" y="5210978"/>
            <a:ext cx="12192000" cy="124221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1800" dirty="0">
                <a:ea typeface="Roboto" panose="02000000000000000000" pitchFamily="2" charset="0"/>
              </a:rPr>
              <a:t>MATLAB is a </a:t>
            </a:r>
            <a:r>
              <a:rPr lang="en-US" sz="1800" b="1" dirty="0">
                <a:ea typeface="Roboto" panose="02000000000000000000" pitchFamily="2" charset="0"/>
              </a:rPr>
              <a:t>programming environment</a:t>
            </a:r>
            <a:r>
              <a:rPr lang="en-US" sz="1800" dirty="0">
                <a:ea typeface="Roboto" panose="02000000000000000000" pitchFamily="2" charset="0"/>
              </a:rPr>
              <a:t> for algorithm development, data analysis, </a:t>
            </a:r>
            <a:r>
              <a:rPr lang="en-US" sz="1800" dirty="0" err="1">
                <a:ea typeface="Roboto" panose="02000000000000000000" pitchFamily="2" charset="0"/>
              </a:rPr>
              <a:t>visualisation</a:t>
            </a:r>
            <a:r>
              <a:rPr lang="en-US" sz="1800" dirty="0">
                <a:ea typeface="Roboto" panose="02000000000000000000" pitchFamily="2" charset="0"/>
              </a:rPr>
              <a:t>, and numerical computing.</a:t>
            </a:r>
            <a:endParaRPr lang="es-ES" sz="1800" dirty="0">
              <a:ea typeface="Roboto" panose="02000000000000000000" pitchFamily="2" charset="0"/>
            </a:endParaRPr>
          </a:p>
          <a:p>
            <a:pPr>
              <a:spcBef>
                <a:spcPts val="1200"/>
              </a:spcBef>
            </a:pPr>
            <a:r>
              <a:rPr lang="en-US" sz="1800" dirty="0">
                <a:ea typeface="Roboto" panose="02000000000000000000" pitchFamily="2" charset="0"/>
              </a:rPr>
              <a:t>Simulink is a </a:t>
            </a:r>
            <a:r>
              <a:rPr lang="en-US" sz="1800" b="1" dirty="0">
                <a:ea typeface="Roboto" panose="02000000000000000000" pitchFamily="2" charset="0"/>
              </a:rPr>
              <a:t>graphical environment</a:t>
            </a:r>
            <a:r>
              <a:rPr lang="en-US" sz="1800" dirty="0">
                <a:ea typeface="Roboto" panose="02000000000000000000" pitchFamily="2" charset="0"/>
              </a:rPr>
              <a:t> used for the design, simulation, and testing of the system.</a:t>
            </a:r>
            <a:endParaRPr lang="es-ES" sz="1800" dirty="0">
              <a:highlight>
                <a:srgbClr val="FFFF00"/>
              </a:highlight>
              <a:ea typeface="Roboto" panose="02000000000000000000" pitchFamily="2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>
                <a:ea typeface="Roboto" panose="02000000000000000000" pitchFamily="2" charset="0"/>
              </a:rPr>
              <a:t>130+</a:t>
            </a:r>
            <a:r>
              <a:rPr lang="en-US" sz="1800" dirty="0">
                <a:ea typeface="Roboto" panose="02000000000000000000" pitchFamily="2" charset="0"/>
              </a:rPr>
              <a:t> additional </a:t>
            </a:r>
            <a:r>
              <a:rPr lang="en-US" sz="1800" b="1" dirty="0">
                <a:ea typeface="Roboto" panose="02000000000000000000" pitchFamily="2" charset="0"/>
              </a:rPr>
              <a:t>toolboxes</a:t>
            </a:r>
            <a:r>
              <a:rPr lang="en-US" sz="1800" dirty="0">
                <a:ea typeface="Roboto" panose="02000000000000000000" pitchFamily="2" charset="0"/>
              </a:rPr>
              <a:t> for </a:t>
            </a:r>
            <a:r>
              <a:rPr lang="en-US" sz="1800" dirty="0" err="1">
                <a:ea typeface="Roboto" panose="02000000000000000000" pitchFamily="2" charset="0"/>
              </a:rPr>
              <a:t>specialised</a:t>
            </a:r>
            <a:r>
              <a:rPr lang="en-US" sz="1800" dirty="0">
                <a:ea typeface="Roboto" panose="02000000000000000000" pitchFamily="2" charset="0"/>
              </a:rPr>
              <a:t> tasks</a:t>
            </a:r>
            <a:r>
              <a:rPr lang="es-ES" sz="1800" dirty="0">
                <a:ea typeface="Roboto" panose="02000000000000000000" pitchFamily="2" charset="0"/>
              </a:rPr>
              <a:t>.</a:t>
            </a:r>
          </a:p>
        </p:txBody>
      </p:sp>
      <p:pic>
        <p:nvPicPr>
          <p:cNvPr id="5" name="Picture 2" descr="https://www.mathworks.com/content/mathworks/www/en/jcr:content/mainParsys/band_551075880/backgroundImage.img.jpg/1506007214743.jpg">
            <a:extLst>
              <a:ext uri="{FF2B5EF4-FFF2-40B4-BE49-F238E27FC236}">
                <a16:creationId xmlns:a16="http://schemas.microsoft.com/office/drawing/2014/main" id="{1BC7A923-ABA2-33BF-5B8B-1B6727BA0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15" b="30059"/>
          <a:stretch>
            <a:fillRect/>
          </a:stretch>
        </p:blipFill>
        <p:spPr bwMode="auto">
          <a:xfrm>
            <a:off x="2079702" y="759637"/>
            <a:ext cx="10112886" cy="143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FD5B62-18BC-708E-AD6A-37A2B15B174C}"/>
              </a:ext>
            </a:extLst>
          </p:cNvPr>
          <p:cNvSpPr/>
          <p:nvPr/>
        </p:nvSpPr>
        <p:spPr>
          <a:xfrm>
            <a:off x="0" y="759637"/>
            <a:ext cx="2079702" cy="1435847"/>
          </a:xfrm>
          <a:prstGeom prst="rect">
            <a:avLst/>
          </a:prstGeom>
          <a:solidFill>
            <a:srgbClr val="032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3B224E-98BB-7D4C-73D4-4364CC157F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85226"/>
            <a:ext cx="4114800" cy="11756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4C1CB81-E64A-0C5B-CE9A-9ED1CAA3FB9A}"/>
              </a:ext>
            </a:extLst>
          </p:cNvPr>
          <p:cNvGrpSpPr/>
          <p:nvPr/>
        </p:nvGrpSpPr>
        <p:grpSpPr>
          <a:xfrm>
            <a:off x="1572459" y="2173660"/>
            <a:ext cx="3822110" cy="2893887"/>
            <a:chOff x="7288329" y="3032414"/>
            <a:chExt cx="4114800" cy="326321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798629-32E2-0FCF-FA4C-DDA9F0E5E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8" b="3512"/>
            <a:stretch/>
          </p:blipFill>
          <p:spPr>
            <a:xfrm>
              <a:off x="7288329" y="3401746"/>
              <a:ext cx="4114800" cy="2893887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12" name="MATLAB label">
              <a:extLst>
                <a:ext uri="{FF2B5EF4-FFF2-40B4-BE49-F238E27FC236}">
                  <a16:creationId xmlns:a16="http://schemas.microsoft.com/office/drawing/2014/main" id="{66E72A38-0C9F-9219-DC05-55572402C141}"/>
                </a:ext>
              </a:extLst>
            </p:cNvPr>
            <p:cNvSpPr txBox="1"/>
            <p:nvPr/>
          </p:nvSpPr>
          <p:spPr>
            <a:xfrm>
              <a:off x="8694335" y="3032414"/>
              <a:ext cx="1229637" cy="4164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25687"/>
                  </a:solidFill>
                  <a:effectLst/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MATLAB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193446C-959A-2674-9BDB-AD12393FD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91958" y="3405375"/>
              <a:ext cx="542128" cy="11389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9C7801-2688-F3B4-5AB1-951B621C2069}"/>
              </a:ext>
            </a:extLst>
          </p:cNvPr>
          <p:cNvGrpSpPr/>
          <p:nvPr/>
        </p:nvGrpSpPr>
        <p:grpSpPr>
          <a:xfrm>
            <a:off x="6794060" y="2173660"/>
            <a:ext cx="3822110" cy="2909812"/>
            <a:chOff x="7391400" y="2960114"/>
            <a:chExt cx="4114800" cy="296290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9FFE8AB-2808-077E-3F41-58CE7DCEB96C}"/>
                </a:ext>
              </a:extLst>
            </p:cNvPr>
            <p:cNvGrpSpPr/>
            <p:nvPr/>
          </p:nvGrpSpPr>
          <p:grpSpPr>
            <a:xfrm>
              <a:off x="7391400" y="2960114"/>
              <a:ext cx="4114800" cy="2962908"/>
              <a:chOff x="7288329" y="3020979"/>
              <a:chExt cx="4114800" cy="296290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6CA96D-6EAA-F90B-59EC-D57E55FDDF0E}"/>
                  </a:ext>
                </a:extLst>
              </p:cNvPr>
              <p:cNvSpPr txBox="1"/>
              <p:nvPr/>
            </p:nvSpPr>
            <p:spPr>
              <a:xfrm>
                <a:off x="8738367" y="3020979"/>
                <a:ext cx="1234262" cy="376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568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Simulink</a:t>
                </a: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E13BB9D-36B8-D8CF-BB59-CE88C63B54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8329" y="3401746"/>
                <a:ext cx="4114800" cy="2582141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413CB2-9F08-8AC0-AE4B-C63D5ECEBEAC}"/>
                </a:ext>
              </a:extLst>
            </p:cNvPr>
            <p:cNvSpPr txBox="1"/>
            <p:nvPr/>
          </p:nvSpPr>
          <p:spPr>
            <a:xfrm>
              <a:off x="8648700" y="4096464"/>
              <a:ext cx="2466975" cy="194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Helicopter Simulation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5745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58C257-66F6-8EF6-67D4-0438729C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3400" y="3856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MATLAB &amp; Simulink Online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57A155-7C78-C59C-1F60-3C708D60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40C07-432C-0C7A-0F63-411D76307E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230" y="4433888"/>
            <a:ext cx="9965369" cy="1814512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lang="en-US" sz="1800" dirty="0">
                <a:cs typeface="Segoe UI" panose="020B0502040204020203" pitchFamily="34" charset="0"/>
              </a:rPr>
              <a:t>Requires </a:t>
            </a:r>
            <a:r>
              <a:rPr lang="en-US" sz="1800" b="1" dirty="0">
                <a:cs typeface="Segoe UI" panose="020B0502040204020203" pitchFamily="34" charset="0"/>
              </a:rPr>
              <a:t>no download</a:t>
            </a:r>
            <a:r>
              <a:rPr lang="en-US" sz="1800" dirty="0">
                <a:cs typeface="Segoe UI" panose="020B0502040204020203" pitchFamily="34" charset="0"/>
              </a:rPr>
              <a:t> or </a:t>
            </a:r>
            <a:r>
              <a:rPr lang="en-US" sz="1800" b="1" dirty="0">
                <a:cs typeface="Segoe UI" panose="020B0502040204020203" pitchFamily="34" charset="0"/>
              </a:rPr>
              <a:t>installation</a:t>
            </a:r>
            <a:r>
              <a:rPr lang="en-US" sz="1800" dirty="0">
                <a:cs typeface="Segoe UI" panose="020B0502040204020203" pitchFamily="34" charset="0"/>
              </a:rPr>
              <a:t> of MATLAB or Simulink.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lang="en-US" sz="1800" dirty="0">
                <a:cs typeface="Segoe UI" panose="020B0502040204020203" pitchFamily="34" charset="0"/>
              </a:rPr>
              <a:t>Always </a:t>
            </a:r>
            <a:r>
              <a:rPr lang="en-US" sz="1800" b="1" dirty="0">
                <a:cs typeface="Segoe UI" panose="020B0502040204020203" pitchFamily="34" charset="0"/>
              </a:rPr>
              <a:t>available</a:t>
            </a:r>
            <a:r>
              <a:rPr lang="en-US" sz="1800" dirty="0">
                <a:cs typeface="Segoe UI" panose="020B0502040204020203" pitchFamily="34" charset="0"/>
              </a:rPr>
              <a:t> with the most </a:t>
            </a:r>
            <a:r>
              <a:rPr lang="en-US" sz="1800" b="1" dirty="0">
                <a:cs typeface="Segoe UI" panose="020B0502040204020203" pitchFamily="34" charset="0"/>
              </a:rPr>
              <a:t>current version</a:t>
            </a:r>
            <a:r>
              <a:rPr lang="en-US" sz="1800" dirty="0">
                <a:cs typeface="Segoe UI" panose="020B0502040204020203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lang="en-US" sz="1800" dirty="0">
                <a:cs typeface="Segoe UI" panose="020B0502040204020203" pitchFamily="34" charset="0"/>
              </a:rPr>
              <a:t>Uses only the </a:t>
            </a:r>
            <a:r>
              <a:rPr lang="en-US" sz="1800" b="1" dirty="0">
                <a:cs typeface="Segoe UI" panose="020B0502040204020203" pitchFamily="34" charset="0"/>
              </a:rPr>
              <a:t>web browser</a:t>
            </a:r>
            <a:r>
              <a:rPr lang="en-US" sz="1800" dirty="0">
                <a:cs typeface="Segoe UI" panose="020B0502040204020203" pitchFamily="3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lang="en-US" sz="1800" dirty="0">
                <a:cs typeface="Segoe UI" panose="020B0502040204020203" pitchFamily="34" charset="0"/>
              </a:rPr>
              <a:t>Ideal for </a:t>
            </a:r>
            <a:r>
              <a:rPr lang="en-US" sz="1800" b="1" dirty="0">
                <a:cs typeface="Segoe UI" panose="020B0502040204020203" pitchFamily="34" charset="0"/>
              </a:rPr>
              <a:t>teaching</a:t>
            </a:r>
            <a:r>
              <a:rPr lang="en-US" sz="1800" dirty="0">
                <a:cs typeface="Segoe UI" panose="020B0502040204020203" pitchFamily="34" charset="0"/>
              </a:rPr>
              <a:t>, </a:t>
            </a:r>
            <a:r>
              <a:rPr lang="en-US" sz="1800" b="1" dirty="0">
                <a:cs typeface="Segoe UI" panose="020B0502040204020203" pitchFamily="34" charset="0"/>
              </a:rPr>
              <a:t>learning</a:t>
            </a:r>
            <a:r>
              <a:rPr lang="en-US" sz="1800" dirty="0">
                <a:cs typeface="Segoe UI" panose="020B0502040204020203" pitchFamily="34" charset="0"/>
              </a:rPr>
              <a:t>, and with convenient &amp; lightweight access.</a:t>
            </a:r>
            <a:endParaRPr lang="es-ES" sz="1800" dirty="0">
              <a:cs typeface="Segoe UI" panose="020B0502040204020203" pitchFamily="34" charset="0"/>
            </a:endParaRPr>
          </a:p>
        </p:txBody>
      </p:sp>
      <p:pic>
        <p:nvPicPr>
          <p:cNvPr id="5" name="Picture 2" descr="Manage Your Files in the Cloud Across Devices and Products">
            <a:extLst>
              <a:ext uri="{FF2B5EF4-FFF2-40B4-BE49-F238E27FC236}">
                <a16:creationId xmlns:a16="http://schemas.microsoft.com/office/drawing/2014/main" id="{70ED5842-90E9-960A-D5EA-D50299F11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21" y="1476633"/>
            <a:ext cx="3978052" cy="285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992073A-BE32-F949-D1FB-057CF214307C}"/>
              </a:ext>
            </a:extLst>
          </p:cNvPr>
          <p:cNvGrpSpPr/>
          <p:nvPr/>
        </p:nvGrpSpPr>
        <p:grpSpPr>
          <a:xfrm>
            <a:off x="4518041" y="1461999"/>
            <a:ext cx="4132673" cy="2970733"/>
            <a:chOff x="4496776" y="1908451"/>
            <a:chExt cx="4132673" cy="2970733"/>
          </a:xfrm>
        </p:grpSpPr>
        <p:pic>
          <p:nvPicPr>
            <p:cNvPr id="7" name="Picture 2" descr="Manage Your Files in the Cloud Across Devices and Products">
              <a:extLst>
                <a:ext uri="{FF2B5EF4-FFF2-40B4-BE49-F238E27FC236}">
                  <a16:creationId xmlns:a16="http://schemas.microsoft.com/office/drawing/2014/main" id="{C62030DD-D86A-4939-075C-9342D7D548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6776" y="1908451"/>
              <a:ext cx="4132673" cy="2970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D7A969A-206D-9807-D84A-B17FB8BF10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093" t="12361" r="14854" b="393"/>
            <a:stretch/>
          </p:blipFill>
          <p:spPr>
            <a:xfrm>
              <a:off x="4720724" y="2631387"/>
              <a:ext cx="2662715" cy="1401525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softEdge rad="12700"/>
            </a:effectLst>
          </p:spPr>
        </p:pic>
        <p:pic>
          <p:nvPicPr>
            <p:cNvPr id="9" name="Picture 2" descr="Manage Your Files in the Cloud Across Devices and Products">
              <a:extLst>
                <a:ext uri="{FF2B5EF4-FFF2-40B4-BE49-F238E27FC236}">
                  <a16:creationId xmlns:a16="http://schemas.microsoft.com/office/drawing/2014/main" id="{30F7FF9C-35C1-B1D9-81CA-A50B4EC79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23" t="43984" r="15236" b="5478"/>
            <a:stretch/>
          </p:blipFill>
          <p:spPr bwMode="auto">
            <a:xfrm>
              <a:off x="6807959" y="3214048"/>
              <a:ext cx="1191904" cy="1501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66FF141-86B4-FEE1-88A2-06DBA86AD7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661" t="9312" r="50822" b="13150"/>
            <a:stretch/>
          </p:blipFill>
          <p:spPr>
            <a:xfrm>
              <a:off x="6966652" y="3318501"/>
              <a:ext cx="942226" cy="1245583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softEdge rad="12700"/>
            </a:effectLst>
          </p:spPr>
        </p:pic>
      </p:grpSp>
      <p:pic>
        <p:nvPicPr>
          <p:cNvPr id="11" name="Picture 6" descr="Image result for matlab online and drive">
            <a:extLst>
              <a:ext uri="{FF2B5EF4-FFF2-40B4-BE49-F238E27FC236}">
                <a16:creationId xmlns:a16="http://schemas.microsoft.com/office/drawing/2014/main" id="{E1B1AB71-BA6B-6278-6F61-FB8BCE04A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434" y="1437491"/>
            <a:ext cx="2847175" cy="309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C28ADDF6-FB2C-5616-C573-54BDA1BF0B17}"/>
              </a:ext>
            </a:extLst>
          </p:cNvPr>
          <p:cNvSpPr txBox="1">
            <a:spLocks/>
          </p:cNvSpPr>
          <p:nvPr/>
        </p:nvSpPr>
        <p:spPr>
          <a:xfrm>
            <a:off x="8610600" y="553142"/>
            <a:ext cx="3105009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MATLAB Drive</a:t>
            </a:r>
          </a:p>
        </p:txBody>
      </p:sp>
    </p:spTree>
    <p:extLst>
      <p:ext uri="{BB962C8B-B14F-4D97-AF65-F5344CB8AC3E}">
        <p14:creationId xmlns:p14="http://schemas.microsoft.com/office/powerpoint/2010/main" val="20780494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" fill="hold">
                                          <p:stCondLst>
                                            <p:cond delay="18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" fill="hold">
                                          <p:stCondLst>
                                            <p:cond delay="53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2F10C29A-2E64-411F-AB52-F8D849EF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What matters to you?</a:t>
            </a:r>
            <a:endParaRPr lang="en-US" dirty="0">
              <a:latin typeface="Futura Std Medium" panose="020B05020202040203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6E1CE-AAB9-41CE-9D9D-059A83C6860E}"/>
              </a:ext>
            </a:extLst>
          </p:cNvPr>
          <p:cNvSpPr/>
          <p:nvPr/>
        </p:nvSpPr>
        <p:spPr>
          <a:xfrm>
            <a:off x="522879" y="1809854"/>
            <a:ext cx="483978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>
                <a:solidFill>
                  <a:srgbClr val="0076A8"/>
                </a:solidFill>
              </a:rPr>
              <a:t>In preparation of a Math Course…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4A2327DC-01A5-44E1-BAF8-4395AE34D2D0}"/>
              </a:ext>
            </a:extLst>
          </p:cNvPr>
          <p:cNvSpPr/>
          <p:nvPr/>
        </p:nvSpPr>
        <p:spPr>
          <a:xfrm>
            <a:off x="5878232" y="1573472"/>
            <a:ext cx="5131731" cy="464911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6" name="Group 72">
            <a:extLst>
              <a:ext uri="{FF2B5EF4-FFF2-40B4-BE49-F238E27FC236}">
                <a16:creationId xmlns:a16="http://schemas.microsoft.com/office/drawing/2014/main" id="{F5738F86-00EE-40E1-9857-EBB45F8CF032}"/>
              </a:ext>
            </a:extLst>
          </p:cNvPr>
          <p:cNvGrpSpPr/>
          <p:nvPr/>
        </p:nvGrpSpPr>
        <p:grpSpPr>
          <a:xfrm rot="21246515">
            <a:off x="5979305" y="1847816"/>
            <a:ext cx="2362150" cy="1350590"/>
            <a:chOff x="380580" y="2050472"/>
            <a:chExt cx="2812475" cy="2770915"/>
          </a:xfrm>
        </p:grpSpPr>
        <p:sp>
          <p:nvSpPr>
            <p:cNvPr id="50" name="Freeform: Shape 73">
              <a:extLst>
                <a:ext uri="{FF2B5EF4-FFF2-40B4-BE49-F238E27FC236}">
                  <a16:creationId xmlns:a16="http://schemas.microsoft.com/office/drawing/2014/main" id="{95D0FF8B-BA9A-4069-B1DD-697AB3F2C030}"/>
                </a:ext>
              </a:extLst>
            </p:cNvPr>
            <p:cNvSpPr/>
            <p:nvPr/>
          </p:nvSpPr>
          <p:spPr>
            <a:xfrm>
              <a:off x="495340" y="4486154"/>
              <a:ext cx="2582955" cy="335229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2473" h="599217">
                  <a:moveTo>
                    <a:pt x="0" y="0"/>
                  </a:moveTo>
                  <a:lnTo>
                    <a:pt x="2812473" y="0"/>
                  </a:lnTo>
                  <a:lnTo>
                    <a:pt x="2812473" y="599216"/>
                  </a:lnTo>
                  <a:lnTo>
                    <a:pt x="2785085" y="584277"/>
                  </a:lnTo>
                  <a:cubicBezTo>
                    <a:pt x="2432207" y="409333"/>
                    <a:pt x="1944711" y="301128"/>
                    <a:pt x="1406237" y="301128"/>
                  </a:cubicBezTo>
                  <a:cubicBezTo>
                    <a:pt x="867763" y="301128"/>
                    <a:pt x="380267" y="409333"/>
                    <a:pt x="27389" y="584277"/>
                  </a:cubicBezTo>
                  <a:lnTo>
                    <a:pt x="0" y="599217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Rectangle 74">
              <a:extLst>
                <a:ext uri="{FF2B5EF4-FFF2-40B4-BE49-F238E27FC236}">
                  <a16:creationId xmlns:a16="http://schemas.microsoft.com/office/drawing/2014/main" id="{0BCACF13-9587-46D1-9A57-C50B69A131B7}"/>
                </a:ext>
              </a:extLst>
            </p:cNvPr>
            <p:cNvSpPr/>
            <p:nvPr/>
          </p:nvSpPr>
          <p:spPr>
            <a:xfrm>
              <a:off x="380583" y="2050474"/>
              <a:ext cx="2812472" cy="2770913"/>
            </a:xfrm>
            <a:prstGeom prst="rect">
              <a:avLst/>
            </a:prstGeom>
            <a:solidFill>
              <a:srgbClr val="E7F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GB" sz="1600" b="1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Engage </a:t>
              </a:r>
              <a:r>
                <a:rPr lang="en-GB" sz="1600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students</a:t>
              </a:r>
              <a:br>
                <a:rPr lang="en-GB" sz="1600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</a:br>
              <a:endParaRPr lang="en-GB" sz="400" kern="1200" noProof="1">
                <a:solidFill>
                  <a:prstClr val="black"/>
                </a:solidFill>
                <a:cs typeface="Segoe UI" panose="020B0502040204020203" pitchFamily="34" charset="0"/>
              </a:endParaRPr>
            </a:p>
            <a:p>
              <a:pPr algn="ctr" defTabSz="685800">
                <a:buClrTx/>
              </a:pPr>
              <a:r>
                <a:rPr lang="en-GB" sz="1600" noProof="1">
                  <a:solidFill>
                    <a:prstClr val="black"/>
                  </a:solidFill>
                  <a:cs typeface="Segoe UI" panose="020B0502040204020203" pitchFamily="34" charset="0"/>
                </a:rPr>
                <a:t>(</a:t>
              </a:r>
              <a:r>
                <a:rPr lang="en-GB" sz="1600" b="1" noProof="1">
                  <a:solidFill>
                    <a:prstClr val="black"/>
                  </a:solidFill>
                  <a:cs typeface="Segoe UI" panose="020B0502040204020203" pitchFamily="34" charset="0"/>
                </a:rPr>
                <a:t>Attractive lectures!</a:t>
              </a:r>
              <a:r>
                <a:rPr lang="en-GB" sz="1600" noProof="1">
                  <a:solidFill>
                    <a:prstClr val="black"/>
                  </a:solidFill>
                  <a:cs typeface="Segoe UI" panose="020B0502040204020203" pitchFamily="34" charset="0"/>
                </a:rPr>
                <a:t>)</a:t>
              </a:r>
              <a:endParaRPr lang="en-US" sz="1600" kern="1200" noProof="1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53" name="Rectangle 75">
              <a:extLst>
                <a:ext uri="{FF2B5EF4-FFF2-40B4-BE49-F238E27FC236}">
                  <a16:creationId xmlns:a16="http://schemas.microsoft.com/office/drawing/2014/main" id="{89AEEC4E-D34B-4BEA-AF85-5AC2A355BF08}"/>
                </a:ext>
              </a:extLst>
            </p:cNvPr>
            <p:cNvSpPr/>
            <p:nvPr/>
          </p:nvSpPr>
          <p:spPr>
            <a:xfrm>
              <a:off x="380580" y="2050472"/>
              <a:ext cx="2812473" cy="540327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1" name="Group 84">
            <a:extLst>
              <a:ext uri="{FF2B5EF4-FFF2-40B4-BE49-F238E27FC236}">
                <a16:creationId xmlns:a16="http://schemas.microsoft.com/office/drawing/2014/main" id="{4CC19449-1DBB-40CF-9A7A-054F2F23BD39}"/>
              </a:ext>
            </a:extLst>
          </p:cNvPr>
          <p:cNvGrpSpPr/>
          <p:nvPr/>
        </p:nvGrpSpPr>
        <p:grpSpPr>
          <a:xfrm rot="572627">
            <a:off x="8543145" y="2563927"/>
            <a:ext cx="2270257" cy="1074919"/>
            <a:chOff x="380581" y="2050469"/>
            <a:chExt cx="5462238" cy="2770913"/>
          </a:xfrm>
        </p:grpSpPr>
        <p:sp>
          <p:nvSpPr>
            <p:cNvPr id="82" name="Freeform: Shape 85">
              <a:extLst>
                <a:ext uri="{FF2B5EF4-FFF2-40B4-BE49-F238E27FC236}">
                  <a16:creationId xmlns:a16="http://schemas.microsoft.com/office/drawing/2014/main" id="{B06B8D77-A1C7-49F7-9381-DEE58A3A4176}"/>
                </a:ext>
              </a:extLst>
            </p:cNvPr>
            <p:cNvSpPr/>
            <p:nvPr/>
          </p:nvSpPr>
          <p:spPr>
            <a:xfrm>
              <a:off x="381417" y="4474117"/>
              <a:ext cx="5450098" cy="335228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2473" h="599217">
                  <a:moveTo>
                    <a:pt x="0" y="0"/>
                  </a:moveTo>
                  <a:lnTo>
                    <a:pt x="2812473" y="0"/>
                  </a:lnTo>
                  <a:lnTo>
                    <a:pt x="2812473" y="599216"/>
                  </a:lnTo>
                  <a:lnTo>
                    <a:pt x="2785085" y="584277"/>
                  </a:lnTo>
                  <a:cubicBezTo>
                    <a:pt x="2432207" y="409333"/>
                    <a:pt x="1944711" y="301128"/>
                    <a:pt x="1406237" y="301128"/>
                  </a:cubicBezTo>
                  <a:cubicBezTo>
                    <a:pt x="867763" y="301128"/>
                    <a:pt x="380267" y="409333"/>
                    <a:pt x="27389" y="584277"/>
                  </a:cubicBezTo>
                  <a:lnTo>
                    <a:pt x="0" y="599217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3" name="Rectangle 86">
              <a:extLst>
                <a:ext uri="{FF2B5EF4-FFF2-40B4-BE49-F238E27FC236}">
                  <a16:creationId xmlns:a16="http://schemas.microsoft.com/office/drawing/2014/main" id="{A2F65B9E-7353-4294-BDC1-4FBF8CAAC23B}"/>
                </a:ext>
              </a:extLst>
            </p:cNvPr>
            <p:cNvSpPr/>
            <p:nvPr/>
          </p:nvSpPr>
          <p:spPr>
            <a:xfrm>
              <a:off x="380584" y="2050473"/>
              <a:ext cx="5462235" cy="2770909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sz="1350" b="1" kern="1200" noProof="1">
                  <a:solidFill>
                    <a:prstClr val="black"/>
                  </a:solidFill>
                </a:rPr>
                <a:t>Equip</a:t>
              </a:r>
              <a:r>
                <a:rPr lang="en-US" sz="1350" kern="1200" noProof="1">
                  <a:solidFill>
                    <a:prstClr val="black"/>
                  </a:solidFill>
                </a:rPr>
                <a:t> students with proper </a:t>
              </a:r>
              <a:r>
                <a:rPr lang="en-US" sz="1350" b="1" kern="1200" noProof="1">
                  <a:solidFill>
                    <a:prstClr val="black"/>
                  </a:solidFill>
                </a:rPr>
                <a:t>tools</a:t>
              </a:r>
              <a:r>
                <a:rPr lang="en-US" sz="1350" kern="1200" noProof="1">
                  <a:solidFill>
                    <a:prstClr val="black"/>
                  </a:solidFill>
                </a:rPr>
                <a:t> for </a:t>
              </a:r>
              <a:r>
                <a:rPr lang="en-US" sz="1350" b="1" kern="1200" noProof="1">
                  <a:solidFill>
                    <a:prstClr val="black"/>
                  </a:solidFill>
                </a:rPr>
                <a:t>industry</a:t>
              </a:r>
              <a:endParaRPr lang="en-US" sz="1350" b="1" u="sng" kern="1200" noProof="1">
                <a:solidFill>
                  <a:prstClr val="black"/>
                </a:solidFill>
              </a:endParaRPr>
            </a:p>
          </p:txBody>
        </p:sp>
        <p:sp>
          <p:nvSpPr>
            <p:cNvPr id="84" name="Rectangle 87">
              <a:extLst>
                <a:ext uri="{FF2B5EF4-FFF2-40B4-BE49-F238E27FC236}">
                  <a16:creationId xmlns:a16="http://schemas.microsoft.com/office/drawing/2014/main" id="{FBD757BC-D3AE-4434-A273-E8730876AC31}"/>
                </a:ext>
              </a:extLst>
            </p:cNvPr>
            <p:cNvSpPr/>
            <p:nvPr/>
          </p:nvSpPr>
          <p:spPr>
            <a:xfrm>
              <a:off x="380581" y="2050469"/>
              <a:ext cx="5450174" cy="540326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1" name="Group 88">
            <a:extLst>
              <a:ext uri="{FF2B5EF4-FFF2-40B4-BE49-F238E27FC236}">
                <a16:creationId xmlns:a16="http://schemas.microsoft.com/office/drawing/2014/main" id="{EAD5574E-D693-4AD8-B77B-02DC71A9E421}"/>
              </a:ext>
            </a:extLst>
          </p:cNvPr>
          <p:cNvGrpSpPr/>
          <p:nvPr/>
        </p:nvGrpSpPr>
        <p:grpSpPr>
          <a:xfrm rot="21047469">
            <a:off x="6003484" y="3530692"/>
            <a:ext cx="2788130" cy="1314994"/>
            <a:chOff x="4205676" y="4107135"/>
            <a:chExt cx="1467297" cy="544719"/>
          </a:xfrm>
        </p:grpSpPr>
        <p:sp>
          <p:nvSpPr>
            <p:cNvPr id="72" name="Freeform: Shape 89">
              <a:extLst>
                <a:ext uri="{FF2B5EF4-FFF2-40B4-BE49-F238E27FC236}">
                  <a16:creationId xmlns:a16="http://schemas.microsoft.com/office/drawing/2014/main" id="{5FD0AEB1-9C99-4301-84D6-8419800751FB}"/>
                </a:ext>
              </a:extLst>
            </p:cNvPr>
            <p:cNvSpPr/>
            <p:nvPr/>
          </p:nvSpPr>
          <p:spPr>
            <a:xfrm>
              <a:off x="4265036" y="4478457"/>
              <a:ext cx="1350521" cy="173394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0 h 599217"/>
                <a:gd name="connsiteX0" fmla="*/ 30550 w 2843023"/>
                <a:gd name="connsiteY0" fmla="*/ 0 h 599217"/>
                <a:gd name="connsiteX1" fmla="*/ 2843023 w 2843023"/>
                <a:gd name="connsiteY1" fmla="*/ 0 h 599217"/>
                <a:gd name="connsiteX2" fmla="*/ 2843023 w 2843023"/>
                <a:gd name="connsiteY2" fmla="*/ 599216 h 599217"/>
                <a:gd name="connsiteX3" fmla="*/ 2815635 w 2843023"/>
                <a:gd name="connsiteY3" fmla="*/ 584277 h 599217"/>
                <a:gd name="connsiteX4" fmla="*/ 1436787 w 2843023"/>
                <a:gd name="connsiteY4" fmla="*/ 301128 h 599217"/>
                <a:gd name="connsiteX5" fmla="*/ 30550 w 2843023"/>
                <a:gd name="connsiteY5" fmla="*/ 0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3023" h="599217">
                  <a:moveTo>
                    <a:pt x="30550" y="0"/>
                  </a:moveTo>
                  <a:lnTo>
                    <a:pt x="2843023" y="0"/>
                  </a:lnTo>
                  <a:lnTo>
                    <a:pt x="2843023" y="599216"/>
                  </a:lnTo>
                  <a:lnTo>
                    <a:pt x="2815635" y="584277"/>
                  </a:lnTo>
                  <a:cubicBezTo>
                    <a:pt x="2462757" y="409333"/>
                    <a:pt x="1975261" y="301128"/>
                    <a:pt x="1436787" y="301128"/>
                  </a:cubicBezTo>
                  <a:cubicBezTo>
                    <a:pt x="972606" y="203749"/>
                    <a:pt x="-203823" y="50188"/>
                    <a:pt x="3055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Rectangle 90">
              <a:extLst>
                <a:ext uri="{FF2B5EF4-FFF2-40B4-BE49-F238E27FC236}">
                  <a16:creationId xmlns:a16="http://schemas.microsoft.com/office/drawing/2014/main" id="{C424A735-F2B8-41AD-B616-8F5677E461C8}"/>
                </a:ext>
              </a:extLst>
            </p:cNvPr>
            <p:cNvSpPr/>
            <p:nvPr/>
          </p:nvSpPr>
          <p:spPr>
            <a:xfrm>
              <a:off x="4205678" y="4107138"/>
              <a:ext cx="1467295" cy="544716"/>
            </a:xfrm>
            <a:prstGeom prst="rect">
              <a:avLst/>
            </a:prstGeom>
            <a:solidFill>
              <a:srgbClr val="FBAE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sz="2000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Figure out </a:t>
              </a:r>
              <a:br>
                <a:rPr lang="en-US" sz="2000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</a:br>
              <a:r>
                <a:rPr lang="en-US" sz="2000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how to solve </a:t>
              </a:r>
            </a:p>
            <a:p>
              <a:pPr algn="ctr" defTabSz="685800">
                <a:buClrTx/>
              </a:pPr>
              <a:r>
                <a:rPr lang="en-US" sz="2000" b="1" noProof="1">
                  <a:solidFill>
                    <a:prstClr val="black"/>
                  </a:solidFill>
                  <a:cs typeface="Segoe UI" panose="020B0502040204020203" pitchFamily="34" charset="0"/>
                </a:rPr>
                <a:t>Challenges</a:t>
              </a:r>
              <a:endParaRPr lang="en-US" sz="2000" kern="1200" noProof="1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74" name="Rectangle 91">
              <a:extLst>
                <a:ext uri="{FF2B5EF4-FFF2-40B4-BE49-F238E27FC236}">
                  <a16:creationId xmlns:a16="http://schemas.microsoft.com/office/drawing/2014/main" id="{F628BE64-26EF-4295-8B68-6DA6B940EA65}"/>
                </a:ext>
              </a:extLst>
            </p:cNvPr>
            <p:cNvSpPr/>
            <p:nvPr/>
          </p:nvSpPr>
          <p:spPr>
            <a:xfrm rot="16200000">
              <a:off x="4018094" y="4294717"/>
              <a:ext cx="544715" cy="169552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Group 88">
            <a:extLst>
              <a:ext uri="{FF2B5EF4-FFF2-40B4-BE49-F238E27FC236}">
                <a16:creationId xmlns:a16="http://schemas.microsoft.com/office/drawing/2014/main" id="{0A5AE0F2-9C35-49D1-B59A-50DCAF0E898F}"/>
              </a:ext>
            </a:extLst>
          </p:cNvPr>
          <p:cNvGrpSpPr/>
          <p:nvPr/>
        </p:nvGrpSpPr>
        <p:grpSpPr>
          <a:xfrm rot="20871507">
            <a:off x="9919883" y="3686847"/>
            <a:ext cx="1728939" cy="897851"/>
            <a:chOff x="4205676" y="4107136"/>
            <a:chExt cx="1929236" cy="544720"/>
          </a:xfrm>
        </p:grpSpPr>
        <p:sp>
          <p:nvSpPr>
            <p:cNvPr id="67" name="Freeform: Shape 89">
              <a:extLst>
                <a:ext uri="{FF2B5EF4-FFF2-40B4-BE49-F238E27FC236}">
                  <a16:creationId xmlns:a16="http://schemas.microsoft.com/office/drawing/2014/main" id="{89F282D0-00AD-4439-87F4-0EA506B5E60A}"/>
                </a:ext>
              </a:extLst>
            </p:cNvPr>
            <p:cNvSpPr/>
            <p:nvPr/>
          </p:nvSpPr>
          <p:spPr>
            <a:xfrm>
              <a:off x="4212910" y="4478457"/>
              <a:ext cx="1915143" cy="170635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0 h 599217"/>
                <a:gd name="connsiteX0" fmla="*/ 30550 w 2843023"/>
                <a:gd name="connsiteY0" fmla="*/ 0 h 599217"/>
                <a:gd name="connsiteX1" fmla="*/ 2843023 w 2843023"/>
                <a:gd name="connsiteY1" fmla="*/ 0 h 599217"/>
                <a:gd name="connsiteX2" fmla="*/ 2843023 w 2843023"/>
                <a:gd name="connsiteY2" fmla="*/ 599216 h 599217"/>
                <a:gd name="connsiteX3" fmla="*/ 2815635 w 2843023"/>
                <a:gd name="connsiteY3" fmla="*/ 584277 h 599217"/>
                <a:gd name="connsiteX4" fmla="*/ 1436787 w 2843023"/>
                <a:gd name="connsiteY4" fmla="*/ 301128 h 599217"/>
                <a:gd name="connsiteX5" fmla="*/ 30550 w 2843023"/>
                <a:gd name="connsiteY5" fmla="*/ 0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3023" h="599217">
                  <a:moveTo>
                    <a:pt x="30550" y="0"/>
                  </a:moveTo>
                  <a:lnTo>
                    <a:pt x="2843023" y="0"/>
                  </a:lnTo>
                  <a:lnTo>
                    <a:pt x="2843023" y="599216"/>
                  </a:lnTo>
                  <a:lnTo>
                    <a:pt x="2815635" y="584277"/>
                  </a:lnTo>
                  <a:cubicBezTo>
                    <a:pt x="2462757" y="409333"/>
                    <a:pt x="1975261" y="301128"/>
                    <a:pt x="1436787" y="301128"/>
                  </a:cubicBezTo>
                  <a:cubicBezTo>
                    <a:pt x="972606" y="203749"/>
                    <a:pt x="-203823" y="50188"/>
                    <a:pt x="3055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200" kern="1200">
                <a:solidFill>
                  <a:prstClr val="white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68" name="Rectangle 90">
              <a:extLst>
                <a:ext uri="{FF2B5EF4-FFF2-40B4-BE49-F238E27FC236}">
                  <a16:creationId xmlns:a16="http://schemas.microsoft.com/office/drawing/2014/main" id="{54E4A30B-3EB4-481A-B1DB-19BE77B7731E}"/>
                </a:ext>
              </a:extLst>
            </p:cNvPr>
            <p:cNvSpPr/>
            <p:nvPr/>
          </p:nvSpPr>
          <p:spPr>
            <a:xfrm>
              <a:off x="4205676" y="4107140"/>
              <a:ext cx="1929236" cy="544716"/>
            </a:xfrm>
            <a:prstGeom prst="rect">
              <a:avLst/>
            </a:prstGeom>
            <a:solidFill>
              <a:srgbClr val="1DAC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Fundamental </a:t>
              </a:r>
            </a:p>
            <a:p>
              <a:pPr algn="ctr" defTabSz="685800">
                <a:buClrTx/>
              </a:pPr>
              <a:r>
                <a:rPr lang="en-US" b="1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theory</a:t>
              </a:r>
            </a:p>
          </p:txBody>
        </p:sp>
        <p:sp>
          <p:nvSpPr>
            <p:cNvPr id="69" name="Rectangle 91">
              <a:extLst>
                <a:ext uri="{FF2B5EF4-FFF2-40B4-BE49-F238E27FC236}">
                  <a16:creationId xmlns:a16="http://schemas.microsoft.com/office/drawing/2014/main" id="{66B54DDC-E4E7-4A83-AEE0-67736960F794}"/>
                </a:ext>
              </a:extLst>
            </p:cNvPr>
            <p:cNvSpPr/>
            <p:nvPr/>
          </p:nvSpPr>
          <p:spPr>
            <a:xfrm rot="16200000">
              <a:off x="4073059" y="4239754"/>
              <a:ext cx="544715" cy="279479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200" kern="1200">
                <a:solidFill>
                  <a:prstClr val="white"/>
                </a:solidFill>
                <a:cs typeface="Segoe UI" panose="020B0502040204020203" pitchFamily="34" charset="0"/>
              </a:endParaRPr>
            </a:p>
          </p:txBody>
        </p:sp>
      </p:grpSp>
      <p:grpSp>
        <p:nvGrpSpPr>
          <p:cNvPr id="86" name="Group 84">
            <a:extLst>
              <a:ext uri="{FF2B5EF4-FFF2-40B4-BE49-F238E27FC236}">
                <a16:creationId xmlns:a16="http://schemas.microsoft.com/office/drawing/2014/main" id="{7BA61523-8F45-49EC-9FBC-0381F828E6C5}"/>
              </a:ext>
            </a:extLst>
          </p:cNvPr>
          <p:cNvGrpSpPr/>
          <p:nvPr/>
        </p:nvGrpSpPr>
        <p:grpSpPr>
          <a:xfrm>
            <a:off x="5893971" y="5325881"/>
            <a:ext cx="2270257" cy="1414565"/>
            <a:chOff x="380581" y="2050469"/>
            <a:chExt cx="5462237" cy="2770914"/>
          </a:xfrm>
        </p:grpSpPr>
        <p:sp>
          <p:nvSpPr>
            <p:cNvPr id="87" name="Freeform: Shape 85">
              <a:extLst>
                <a:ext uri="{FF2B5EF4-FFF2-40B4-BE49-F238E27FC236}">
                  <a16:creationId xmlns:a16="http://schemas.microsoft.com/office/drawing/2014/main" id="{335C7102-2A30-49CF-818B-BC36A8E23117}"/>
                </a:ext>
              </a:extLst>
            </p:cNvPr>
            <p:cNvSpPr/>
            <p:nvPr/>
          </p:nvSpPr>
          <p:spPr>
            <a:xfrm>
              <a:off x="381417" y="4474117"/>
              <a:ext cx="5450098" cy="335228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2473" h="599217">
                  <a:moveTo>
                    <a:pt x="0" y="0"/>
                  </a:moveTo>
                  <a:lnTo>
                    <a:pt x="2812473" y="0"/>
                  </a:lnTo>
                  <a:lnTo>
                    <a:pt x="2812473" y="599216"/>
                  </a:lnTo>
                  <a:lnTo>
                    <a:pt x="2785085" y="584277"/>
                  </a:lnTo>
                  <a:cubicBezTo>
                    <a:pt x="2432207" y="409333"/>
                    <a:pt x="1944711" y="301128"/>
                    <a:pt x="1406237" y="301128"/>
                  </a:cubicBezTo>
                  <a:cubicBezTo>
                    <a:pt x="867763" y="301128"/>
                    <a:pt x="380267" y="409333"/>
                    <a:pt x="27389" y="584277"/>
                  </a:cubicBezTo>
                  <a:lnTo>
                    <a:pt x="0" y="599217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8" name="Rectangle 86">
              <a:extLst>
                <a:ext uri="{FF2B5EF4-FFF2-40B4-BE49-F238E27FC236}">
                  <a16:creationId xmlns:a16="http://schemas.microsoft.com/office/drawing/2014/main" id="{D8873144-B49E-4EEC-81CA-CBEBCCD3A4E1}"/>
                </a:ext>
              </a:extLst>
            </p:cNvPr>
            <p:cNvSpPr/>
            <p:nvPr/>
          </p:nvSpPr>
          <p:spPr>
            <a:xfrm>
              <a:off x="380583" y="2050474"/>
              <a:ext cx="5462235" cy="2770909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sz="2000" b="1" kern="1200" noProof="1">
                  <a:solidFill>
                    <a:prstClr val="black"/>
                  </a:solidFill>
                </a:rPr>
                <a:t>Stimulate</a:t>
              </a:r>
              <a:r>
                <a:rPr lang="en-US" sz="2000" kern="1200" noProof="1">
                  <a:solidFill>
                    <a:prstClr val="black"/>
                  </a:solidFill>
                </a:rPr>
                <a:t> student’s interest</a:t>
              </a:r>
            </a:p>
            <a:p>
              <a:pPr algn="ctr" defTabSz="685800">
                <a:buClrTx/>
              </a:pPr>
              <a:r>
                <a:rPr lang="en-US" sz="2000" noProof="1">
                  <a:solidFill>
                    <a:prstClr val="black"/>
                  </a:solidFill>
                </a:rPr>
                <a:t>(</a:t>
              </a:r>
              <a:r>
                <a:rPr lang="en-US" sz="2000" b="1" noProof="1">
                  <a:solidFill>
                    <a:prstClr val="black"/>
                  </a:solidFill>
                </a:rPr>
                <a:t>team projects!</a:t>
              </a:r>
              <a:r>
                <a:rPr lang="en-US" sz="2000" noProof="1">
                  <a:solidFill>
                    <a:prstClr val="black"/>
                  </a:solidFill>
                </a:rPr>
                <a:t>)</a:t>
              </a:r>
              <a:endParaRPr lang="en-US" sz="2000" kern="1200" noProof="1">
                <a:solidFill>
                  <a:prstClr val="black"/>
                </a:solidFill>
              </a:endParaRPr>
            </a:p>
          </p:txBody>
        </p:sp>
        <p:sp>
          <p:nvSpPr>
            <p:cNvPr id="89" name="Rectangle 87">
              <a:extLst>
                <a:ext uri="{FF2B5EF4-FFF2-40B4-BE49-F238E27FC236}">
                  <a16:creationId xmlns:a16="http://schemas.microsoft.com/office/drawing/2014/main" id="{EAD83247-CFE5-460D-8756-4F1774779662}"/>
                </a:ext>
              </a:extLst>
            </p:cNvPr>
            <p:cNvSpPr/>
            <p:nvPr/>
          </p:nvSpPr>
          <p:spPr>
            <a:xfrm>
              <a:off x="380581" y="2050469"/>
              <a:ext cx="5450174" cy="540326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350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90" name="Group 88">
            <a:extLst>
              <a:ext uri="{FF2B5EF4-FFF2-40B4-BE49-F238E27FC236}">
                <a16:creationId xmlns:a16="http://schemas.microsoft.com/office/drawing/2014/main" id="{DF9D00BB-9E9B-4539-AE8C-C5EDD04EA687}"/>
              </a:ext>
            </a:extLst>
          </p:cNvPr>
          <p:cNvGrpSpPr/>
          <p:nvPr/>
        </p:nvGrpSpPr>
        <p:grpSpPr>
          <a:xfrm rot="852300">
            <a:off x="8392687" y="4717404"/>
            <a:ext cx="2179636" cy="1177399"/>
            <a:chOff x="4205677" y="4107136"/>
            <a:chExt cx="1929236" cy="544720"/>
          </a:xfrm>
        </p:grpSpPr>
        <p:sp>
          <p:nvSpPr>
            <p:cNvPr id="91" name="Freeform: Shape 89">
              <a:extLst>
                <a:ext uri="{FF2B5EF4-FFF2-40B4-BE49-F238E27FC236}">
                  <a16:creationId xmlns:a16="http://schemas.microsoft.com/office/drawing/2014/main" id="{4A0FD3FB-F9C8-4409-8E6A-BFA3D5AEF27C}"/>
                </a:ext>
              </a:extLst>
            </p:cNvPr>
            <p:cNvSpPr/>
            <p:nvPr/>
          </p:nvSpPr>
          <p:spPr>
            <a:xfrm>
              <a:off x="4212910" y="4478457"/>
              <a:ext cx="1915143" cy="170635"/>
            </a:xfrm>
            <a:custGeom>
              <a:avLst/>
              <a:gdLst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599217 h 599217"/>
                <a:gd name="connsiteX0" fmla="*/ 0 w 2812473"/>
                <a:gd name="connsiteY0" fmla="*/ 0 h 599217"/>
                <a:gd name="connsiteX1" fmla="*/ 2812473 w 2812473"/>
                <a:gd name="connsiteY1" fmla="*/ 0 h 599217"/>
                <a:gd name="connsiteX2" fmla="*/ 2812473 w 2812473"/>
                <a:gd name="connsiteY2" fmla="*/ 599216 h 599217"/>
                <a:gd name="connsiteX3" fmla="*/ 2785085 w 2812473"/>
                <a:gd name="connsiteY3" fmla="*/ 584277 h 599217"/>
                <a:gd name="connsiteX4" fmla="*/ 1406237 w 2812473"/>
                <a:gd name="connsiteY4" fmla="*/ 301128 h 599217"/>
                <a:gd name="connsiteX5" fmla="*/ 27389 w 2812473"/>
                <a:gd name="connsiteY5" fmla="*/ 584277 h 599217"/>
                <a:gd name="connsiteX6" fmla="*/ 0 w 2812473"/>
                <a:gd name="connsiteY6" fmla="*/ 0 h 599217"/>
                <a:gd name="connsiteX0" fmla="*/ 30550 w 2843023"/>
                <a:gd name="connsiteY0" fmla="*/ 0 h 599217"/>
                <a:gd name="connsiteX1" fmla="*/ 2843023 w 2843023"/>
                <a:gd name="connsiteY1" fmla="*/ 0 h 599217"/>
                <a:gd name="connsiteX2" fmla="*/ 2843023 w 2843023"/>
                <a:gd name="connsiteY2" fmla="*/ 599216 h 599217"/>
                <a:gd name="connsiteX3" fmla="*/ 2815635 w 2843023"/>
                <a:gd name="connsiteY3" fmla="*/ 584277 h 599217"/>
                <a:gd name="connsiteX4" fmla="*/ 1436787 w 2843023"/>
                <a:gd name="connsiteY4" fmla="*/ 301128 h 599217"/>
                <a:gd name="connsiteX5" fmla="*/ 30550 w 2843023"/>
                <a:gd name="connsiteY5" fmla="*/ 0 h 59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3023" h="599217">
                  <a:moveTo>
                    <a:pt x="30550" y="0"/>
                  </a:moveTo>
                  <a:lnTo>
                    <a:pt x="2843023" y="0"/>
                  </a:lnTo>
                  <a:lnTo>
                    <a:pt x="2843023" y="599216"/>
                  </a:lnTo>
                  <a:lnTo>
                    <a:pt x="2815635" y="584277"/>
                  </a:lnTo>
                  <a:cubicBezTo>
                    <a:pt x="2462757" y="409333"/>
                    <a:pt x="1975261" y="301128"/>
                    <a:pt x="1436787" y="301128"/>
                  </a:cubicBezTo>
                  <a:cubicBezTo>
                    <a:pt x="972606" y="203749"/>
                    <a:pt x="-203823" y="50188"/>
                    <a:pt x="30550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63500" dist="889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200" kern="1200">
                <a:solidFill>
                  <a:prstClr val="white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92" name="Rectangle 90">
              <a:extLst>
                <a:ext uri="{FF2B5EF4-FFF2-40B4-BE49-F238E27FC236}">
                  <a16:creationId xmlns:a16="http://schemas.microsoft.com/office/drawing/2014/main" id="{9B88FD28-A447-406B-A618-B7147D44C052}"/>
                </a:ext>
              </a:extLst>
            </p:cNvPr>
            <p:cNvSpPr/>
            <p:nvPr/>
          </p:nvSpPr>
          <p:spPr>
            <a:xfrm>
              <a:off x="4205677" y="4107140"/>
              <a:ext cx="1929236" cy="544716"/>
            </a:xfrm>
            <a:prstGeom prst="rect">
              <a:avLst/>
            </a:pr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r>
                <a:rPr lang="en-US" b="1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Apply Math concepts</a:t>
              </a:r>
              <a:r>
                <a:rPr lang="en-US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 to </a:t>
              </a:r>
            </a:p>
            <a:p>
              <a:pPr algn="ctr" defTabSz="685800">
                <a:buClrTx/>
              </a:pPr>
              <a:r>
                <a:rPr lang="en-US" kern="1200" noProof="1">
                  <a:solidFill>
                    <a:prstClr val="black"/>
                  </a:solidFill>
                  <a:cs typeface="Segoe UI" panose="020B0502040204020203" pitchFamily="34" charset="0"/>
                </a:rPr>
                <a:t>new problems</a:t>
              </a:r>
              <a:endParaRPr lang="en-US" b="1" kern="1200" noProof="1">
                <a:solidFill>
                  <a:prstClr val="black"/>
                </a:solidFill>
                <a:cs typeface="Segoe UI" panose="020B0502040204020203" pitchFamily="34" charset="0"/>
              </a:endParaRPr>
            </a:p>
          </p:txBody>
        </p:sp>
        <p:sp>
          <p:nvSpPr>
            <p:cNvPr id="93" name="Rectangle 91">
              <a:extLst>
                <a:ext uri="{FF2B5EF4-FFF2-40B4-BE49-F238E27FC236}">
                  <a16:creationId xmlns:a16="http://schemas.microsoft.com/office/drawing/2014/main" id="{4671DA46-DB59-4037-AF5A-E7758031A7AA}"/>
                </a:ext>
              </a:extLst>
            </p:cNvPr>
            <p:cNvSpPr/>
            <p:nvPr/>
          </p:nvSpPr>
          <p:spPr>
            <a:xfrm rot="16200000">
              <a:off x="4073059" y="4239754"/>
              <a:ext cx="544715" cy="279479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</a:pPr>
              <a:endParaRPr lang="en-US" sz="1200" kern="1200">
                <a:solidFill>
                  <a:prstClr val="white"/>
                </a:solidFill>
                <a:cs typeface="Segoe UI" panose="020B0502040204020203" pitchFamily="34" charset="0"/>
              </a:endParaRPr>
            </a:p>
          </p:txBody>
        </p:sp>
      </p:grpSp>
      <p:pic>
        <p:nvPicPr>
          <p:cNvPr id="9" name="Picture 8" descr="A target with a arrow in the center&#10;&#10;Description automatically generated">
            <a:extLst>
              <a:ext uri="{FF2B5EF4-FFF2-40B4-BE49-F238E27FC236}">
                <a16:creationId xmlns:a16="http://schemas.microsoft.com/office/drawing/2014/main" id="{3C0C3379-DF5F-20D1-3195-377AC8B30A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290" y="1592669"/>
            <a:ext cx="777189" cy="75781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D23E682-4ED1-F4DD-BA3E-9A25D3A39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85871">
            <a:off x="10071337" y="5197250"/>
            <a:ext cx="1241403" cy="1241403"/>
          </a:xfrm>
          <a:prstGeom prst="rect">
            <a:avLst/>
          </a:prstGeom>
        </p:spPr>
      </p:pic>
      <p:pic>
        <p:nvPicPr>
          <p:cNvPr id="4" name="Picture 3" descr="A person holding a book and pointing up&#10;&#10;Description automatically generated">
            <a:extLst>
              <a:ext uri="{FF2B5EF4-FFF2-40B4-BE49-F238E27FC236}">
                <a16:creationId xmlns:a16="http://schemas.microsoft.com/office/drawing/2014/main" id="{780842ED-DCFB-0D68-2516-84D6E9914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80" y="2205893"/>
            <a:ext cx="4862716" cy="435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9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set of pictograms of people&#10;&#10;Description automatically generated">
            <a:extLst>
              <a:ext uri="{FF2B5EF4-FFF2-40B4-BE49-F238E27FC236}">
                <a16:creationId xmlns:a16="http://schemas.microsoft.com/office/drawing/2014/main" id="{A57326B5-F3A6-0E42-4B20-A23CF99052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0" t="66812" r="50864" b="19679"/>
          <a:stretch/>
        </p:blipFill>
        <p:spPr>
          <a:xfrm>
            <a:off x="9888573" y="2075205"/>
            <a:ext cx="1697836" cy="1596505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2F10C29A-2E64-411F-AB52-F8D849EF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What matters to you?</a:t>
            </a:r>
            <a:endParaRPr lang="en-US" dirty="0">
              <a:latin typeface="Futura Std Medium" panose="020B05020202040203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81CFE2-01F6-4F2E-B757-B6B3F7C07EFC}"/>
              </a:ext>
            </a:extLst>
          </p:cNvPr>
          <p:cNvSpPr/>
          <p:nvPr/>
        </p:nvSpPr>
        <p:spPr>
          <a:xfrm>
            <a:off x="1735285" y="1516855"/>
            <a:ext cx="2882520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rgbClr val="0076A8"/>
                </a:solidFill>
              </a:rPr>
              <a:t>Create a</a:t>
            </a:r>
            <a:r>
              <a:rPr lang="en-US" sz="2800">
                <a:solidFill>
                  <a:srgbClr val="D47F16"/>
                </a:solidFill>
              </a:rPr>
              <a:t> </a:t>
            </a:r>
            <a:r>
              <a:rPr lang="en-US" sz="2800" b="1">
                <a:solidFill>
                  <a:srgbClr val="D47F16"/>
                </a:solidFill>
              </a:rPr>
              <a:t>Library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DF0BA3-8D2C-4A4F-AA50-88A0AD293FC4}"/>
              </a:ext>
            </a:extLst>
          </p:cNvPr>
          <p:cNvSpPr/>
          <p:nvPr/>
        </p:nvSpPr>
        <p:spPr>
          <a:xfrm>
            <a:off x="7574197" y="1516855"/>
            <a:ext cx="3600666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solidFill>
                  <a:srgbClr val="0076A8"/>
                </a:solidFill>
              </a:rPr>
              <a:t>Define a</a:t>
            </a:r>
            <a:r>
              <a:rPr lang="en-US" sz="2800">
                <a:solidFill>
                  <a:srgbClr val="D47F16"/>
                </a:solidFill>
              </a:rPr>
              <a:t> </a:t>
            </a:r>
            <a:r>
              <a:rPr lang="en-US" sz="2800" b="1">
                <a:solidFill>
                  <a:srgbClr val="D47F16"/>
                </a:solidFill>
              </a:rPr>
              <a:t>Playground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751A630-424F-4B61-B9AA-AE426EBF9866}"/>
                  </a:ext>
                </a:extLst>
              </p:cNvPr>
              <p:cNvSpPr/>
              <p:nvPr/>
            </p:nvSpPr>
            <p:spPr>
              <a:xfrm>
                <a:off x="9745017" y="3499793"/>
                <a:ext cx="1712592" cy="6769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000" b="1" i="1" dirty="0" smtClean="0">
                          <a:ln w="7620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it-IT" sz="2000" b="1" i="1" dirty="0" smtClean="0">
                          <a:ln w="7620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b="1" i="1" dirty="0" smtClean="0">
                              <a:ln w="76200"/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1" i="1" dirty="0" smtClean="0">
                              <a:ln w="76200"/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it-IT" sz="2000" b="1" i="1" dirty="0" smtClean="0">
                              <a:ln w="76200"/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000" b="1">
                  <a:ln w="76200"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751A630-424F-4B61-B9AA-AE426EBF9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017" y="3499793"/>
                <a:ext cx="1712592" cy="676917"/>
              </a:xfrm>
              <a:prstGeom prst="rect">
                <a:avLst/>
              </a:prstGeom>
              <a:blipFill>
                <a:blip r:embed="rId4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95667F-7608-457F-AE2F-87F8A288EE70}"/>
                  </a:ext>
                </a:extLst>
              </p:cNvPr>
              <p:cNvSpPr/>
              <p:nvPr/>
            </p:nvSpPr>
            <p:spPr>
              <a:xfrm>
                <a:off x="8668908" y="5071904"/>
                <a:ext cx="1504950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it-IT" sz="2400" b="1" i="1" dirty="0" smtClean="0">
                          <a:ln w="7620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it-IT" sz="2400" b="1" i="1" dirty="0" smtClean="0">
                          <a:ln w="7620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b="1" i="1" dirty="0">
                          <a:ln w="76200"/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𝒎</m:t>
                      </m:r>
                      <m:acc>
                        <m:accPr>
                          <m:chr m:val="̈"/>
                          <m:ctrlPr>
                            <a:rPr lang="it-IT" sz="2400" b="1" i="1" dirty="0">
                              <a:ln w="76200"/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1" i="1" dirty="0">
                              <a:ln w="76200"/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b="1">
                  <a:ln w="76200"/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95667F-7608-457F-AE2F-87F8A288E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08" y="5071904"/>
                <a:ext cx="1504950" cy="461665"/>
              </a:xfrm>
              <a:prstGeom prst="rect">
                <a:avLst/>
              </a:prstGeom>
              <a:blipFill>
                <a:blip r:embed="rId5"/>
                <a:stretch>
                  <a:fillRect r="-10526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E6278-B05F-D759-A2D5-3D6EB830719F}"/>
              </a:ext>
            </a:extLst>
          </p:cNvPr>
          <p:cNvGrpSpPr/>
          <p:nvPr/>
        </p:nvGrpSpPr>
        <p:grpSpPr>
          <a:xfrm>
            <a:off x="995967" y="2207013"/>
            <a:ext cx="5160524" cy="3451155"/>
            <a:chOff x="3221272" y="6400800"/>
            <a:chExt cx="4352925" cy="2895600"/>
          </a:xfrm>
        </p:grpSpPr>
        <p:pic>
          <p:nvPicPr>
            <p:cNvPr id="33" name="Picture 32" descr="A computer and books next to a computer monitor&#10;&#10;Description automatically generated">
              <a:extLst>
                <a:ext uri="{FF2B5EF4-FFF2-40B4-BE49-F238E27FC236}">
                  <a16:creationId xmlns:a16="http://schemas.microsoft.com/office/drawing/2014/main" id="{D05A15B4-5A86-66D3-4758-EE55D210A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1272" y="6400800"/>
              <a:ext cx="4352925" cy="2895600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E6A0C4-039C-7275-70A5-606D955F205A}"/>
                </a:ext>
              </a:extLst>
            </p:cNvPr>
            <p:cNvSpPr/>
            <p:nvPr/>
          </p:nvSpPr>
          <p:spPr>
            <a:xfrm rot="16200000">
              <a:off x="4933627" y="8093790"/>
              <a:ext cx="9028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DFDF2"/>
                  </a:solidFill>
                </a:rPr>
                <a:t>PDE 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52276FE-CDC7-0105-DEBB-8CE6AEC28A39}"/>
                </a:ext>
              </a:extLst>
            </p:cNvPr>
            <p:cNvSpPr/>
            <p:nvPr/>
          </p:nvSpPr>
          <p:spPr>
            <a:xfrm rot="16200000">
              <a:off x="4977401" y="7902571"/>
              <a:ext cx="15536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DFDF2"/>
                  </a:solidFill>
                </a:rPr>
                <a:t>Statistics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9EA0B16-C8A7-53B7-223A-4F4DDEEF8F87}"/>
                </a:ext>
              </a:extLst>
            </p:cNvPr>
            <p:cNvSpPr txBox="1"/>
            <p:nvPr/>
          </p:nvSpPr>
          <p:spPr>
            <a:xfrm>
              <a:off x="6169760" y="8713154"/>
              <a:ext cx="13162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400" b="1">
                  <a:solidFill>
                    <a:srgbClr val="FDFDF2"/>
                  </a:solidFill>
                </a:rPr>
                <a:t>Algebra</a:t>
              </a:r>
              <a:endParaRPr lang="en-US" sz="1400" b="1">
                <a:solidFill>
                  <a:srgbClr val="FDFDF2"/>
                </a:solidFill>
              </a:endParaRPr>
            </a:p>
          </p:txBody>
        </p:sp>
      </p:grpSp>
      <p:pic>
        <p:nvPicPr>
          <p:cNvPr id="28" name="Picture 27" descr="A set of pictograms of people&#10;&#10;Description automatically generated">
            <a:extLst>
              <a:ext uri="{FF2B5EF4-FFF2-40B4-BE49-F238E27FC236}">
                <a16:creationId xmlns:a16="http://schemas.microsoft.com/office/drawing/2014/main" id="{7170F342-C928-D0FF-42A0-82186708E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4" t="66860" r="67151" b="19337"/>
          <a:stretch/>
        </p:blipFill>
        <p:spPr>
          <a:xfrm>
            <a:off x="6915195" y="2482051"/>
            <a:ext cx="1504950" cy="1482275"/>
          </a:xfrm>
          <a:prstGeom prst="rect">
            <a:avLst/>
          </a:prstGeom>
        </p:spPr>
      </p:pic>
      <p:pic>
        <p:nvPicPr>
          <p:cNvPr id="29" name="Picture 28" descr="A set of pictograms of people&#10;&#10;Description automatically generated">
            <a:extLst>
              <a:ext uri="{FF2B5EF4-FFF2-40B4-BE49-F238E27FC236}">
                <a16:creationId xmlns:a16="http://schemas.microsoft.com/office/drawing/2014/main" id="{1AC426EB-6240-47ED-67BD-75FD591881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1" t="51248" r="67185" b="35226"/>
          <a:stretch/>
        </p:blipFill>
        <p:spPr>
          <a:xfrm>
            <a:off x="8670670" y="3720126"/>
            <a:ext cx="1373328" cy="1426307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48ED97E1-3D79-10C6-263A-BD55A70876FC}"/>
              </a:ext>
            </a:extLst>
          </p:cNvPr>
          <p:cNvGrpSpPr/>
          <p:nvPr/>
        </p:nvGrpSpPr>
        <p:grpSpPr>
          <a:xfrm>
            <a:off x="8120386" y="2161965"/>
            <a:ext cx="1100568" cy="1014960"/>
            <a:chOff x="9126170" y="2843760"/>
            <a:chExt cx="914400" cy="914400"/>
          </a:xfrm>
        </p:grpSpPr>
        <p:pic>
          <p:nvPicPr>
            <p:cNvPr id="30" name="Graphic 29" descr="Bar graph with upward trend">
              <a:extLst>
                <a:ext uri="{FF2B5EF4-FFF2-40B4-BE49-F238E27FC236}">
                  <a16:creationId xmlns:a16="http://schemas.microsoft.com/office/drawing/2014/main" id="{C873CF89-D3AF-7A4C-00CE-1B6A2144F8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26170" y="2843760"/>
              <a:ext cx="914400" cy="914400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B0C5391-533B-A0CB-A84B-14E7E7980781}"/>
                </a:ext>
              </a:extLst>
            </p:cNvPr>
            <p:cNvSpPr/>
            <p:nvPr/>
          </p:nvSpPr>
          <p:spPr>
            <a:xfrm>
              <a:off x="9315692" y="2951029"/>
              <a:ext cx="664551" cy="6199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2ECABC-7017-E89C-F159-B57D2AC349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83233" y="2966470"/>
              <a:ext cx="503350" cy="548764"/>
            </a:xfrm>
            <a:prstGeom prst="line">
              <a:avLst/>
            </a:prstGeom>
            <a:ln w="38100">
              <a:solidFill>
                <a:srgbClr val="0056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0DA865-E054-DE77-CA8F-4F8E93149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2632" y="3238630"/>
              <a:ext cx="632537" cy="9663"/>
            </a:xfrm>
            <a:prstGeom prst="line">
              <a:avLst/>
            </a:prstGeom>
            <a:ln w="38100">
              <a:solidFill>
                <a:srgbClr val="D56F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414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1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F784D0-523F-D805-4A58-20BE15D2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Teaching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5D6A10-7F62-AACC-60B9-8407133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DED50-464E-42A7-2CF7-5BD82BBF05D7}"/>
              </a:ext>
            </a:extLst>
          </p:cNvPr>
          <p:cNvSpPr/>
          <p:nvPr/>
        </p:nvSpPr>
        <p:spPr>
          <a:xfrm>
            <a:off x="0" y="1222625"/>
            <a:ext cx="12192000" cy="5635375"/>
          </a:xfrm>
          <a:prstGeom prst="rect">
            <a:avLst/>
          </a:prstGeom>
          <a:solidFill>
            <a:srgbClr val="EC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DC30A0-A350-F7F2-6322-384B68D86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16" y="3308913"/>
            <a:ext cx="1974895" cy="35490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02C07F8-C448-D195-CA91-F03A8E882519}"/>
              </a:ext>
            </a:extLst>
          </p:cNvPr>
          <p:cNvGrpSpPr/>
          <p:nvPr/>
        </p:nvGrpSpPr>
        <p:grpSpPr>
          <a:xfrm>
            <a:off x="6238028" y="1576140"/>
            <a:ext cx="2925054" cy="1217938"/>
            <a:chOff x="4861739" y="1708263"/>
            <a:chExt cx="2925054" cy="1217938"/>
          </a:xfrm>
        </p:grpSpPr>
        <p:sp>
          <p:nvSpPr>
            <p:cNvPr id="11" name="Rounded Rectangular Callout 62">
              <a:extLst>
                <a:ext uri="{FF2B5EF4-FFF2-40B4-BE49-F238E27FC236}">
                  <a16:creationId xmlns:a16="http://schemas.microsoft.com/office/drawing/2014/main" id="{C3BBAA80-18E4-BAE7-D2ED-BDC24E4A0563}"/>
                </a:ext>
              </a:extLst>
            </p:cNvPr>
            <p:cNvSpPr/>
            <p:nvPr/>
          </p:nvSpPr>
          <p:spPr>
            <a:xfrm>
              <a:off x="4861739" y="1708263"/>
              <a:ext cx="2925054" cy="1217938"/>
            </a:xfrm>
            <a:prstGeom prst="wedgeRoundRectCallout">
              <a:avLst>
                <a:gd name="adj1" fmla="val -20074"/>
                <a:gd name="adj2" fmla="val 60233"/>
                <a:gd name="adj3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37517" dist="26292" dir="5400000" algn="ctr" rotWithShape="0">
                <a:srgbClr val="000000">
                  <a:alpha val="1004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531724-34AD-5CA1-29AC-23A4A9A73FCF}"/>
                </a:ext>
              </a:extLst>
            </p:cNvPr>
            <p:cNvSpPr txBox="1"/>
            <p:nvPr/>
          </p:nvSpPr>
          <p:spPr>
            <a:xfrm>
              <a:off x="5065336" y="1856131"/>
              <a:ext cx="2568539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 err="1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Visualising</a:t>
              </a:r>
              <a:r>
                <a:rPr lang="en-US" sz="1600" b="1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Functions</a:t>
              </a:r>
            </a:p>
          </p:txBody>
        </p:sp>
        <p:pic>
          <p:nvPicPr>
            <p:cNvPr id="13" name="Picture 12" descr="A collection of icons of school supplies&#10;&#10;Description automatically generated">
              <a:extLst>
                <a:ext uri="{FF2B5EF4-FFF2-40B4-BE49-F238E27FC236}">
                  <a16:creationId xmlns:a16="http://schemas.microsoft.com/office/drawing/2014/main" id="{5A385FB0-5E7C-8DE4-0A29-21465687E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64" t="31848" r="29374" b="58939"/>
            <a:stretch/>
          </p:blipFill>
          <p:spPr>
            <a:xfrm>
              <a:off x="5915436" y="2155629"/>
              <a:ext cx="868341" cy="63182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766C26-E133-0F88-E725-3C8B37BEC3B5}"/>
              </a:ext>
            </a:extLst>
          </p:cNvPr>
          <p:cNvGrpSpPr/>
          <p:nvPr/>
        </p:nvGrpSpPr>
        <p:grpSpPr>
          <a:xfrm>
            <a:off x="2853121" y="1576140"/>
            <a:ext cx="3028674" cy="1405848"/>
            <a:chOff x="1462773" y="1559674"/>
            <a:chExt cx="3028674" cy="1405848"/>
          </a:xfrm>
        </p:grpSpPr>
        <p:sp>
          <p:nvSpPr>
            <p:cNvPr id="15" name="Rounded Rectangular Callout 41">
              <a:extLst>
                <a:ext uri="{FF2B5EF4-FFF2-40B4-BE49-F238E27FC236}">
                  <a16:creationId xmlns:a16="http://schemas.microsoft.com/office/drawing/2014/main" id="{1F9DD149-8F53-483E-0F15-417D9E6F4C83}"/>
                </a:ext>
              </a:extLst>
            </p:cNvPr>
            <p:cNvSpPr/>
            <p:nvPr/>
          </p:nvSpPr>
          <p:spPr>
            <a:xfrm>
              <a:off x="1462773" y="1559674"/>
              <a:ext cx="3028674" cy="1405848"/>
            </a:xfrm>
            <a:prstGeom prst="wedgeRoundRectCallout">
              <a:avLst>
                <a:gd name="adj1" fmla="val 33430"/>
                <a:gd name="adj2" fmla="val 62570"/>
                <a:gd name="adj3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37517" dist="26292" dir="5400000" algn="ctr" rotWithShape="0">
                <a:srgbClr val="000000">
                  <a:alpha val="1004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55D23B-016C-810E-8BC8-4B7F76FB45CA}"/>
                </a:ext>
              </a:extLst>
            </p:cNvPr>
            <p:cNvSpPr txBox="1"/>
            <p:nvPr/>
          </p:nvSpPr>
          <p:spPr>
            <a:xfrm>
              <a:off x="1743206" y="1708263"/>
              <a:ext cx="23369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>
                <a:solidFill>
                  <a:srgbClr val="FF6400"/>
                </a:solidFill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A96F2-75AD-103E-513B-465F668E9FB3}"/>
                </a:ext>
              </a:extLst>
            </p:cNvPr>
            <p:cNvSpPr txBox="1"/>
            <p:nvPr/>
          </p:nvSpPr>
          <p:spPr>
            <a:xfrm>
              <a:off x="1653923" y="1671129"/>
              <a:ext cx="2514547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Interesting Subject, Engaged </a:t>
              </a:r>
              <a:r>
                <a:rPr lang="en-US" sz="1600" b="1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1600" b="1" kern="12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tudents</a:t>
              </a:r>
            </a:p>
          </p:txBody>
        </p:sp>
        <p:pic>
          <p:nvPicPr>
            <p:cNvPr id="18" name="Picture 17" descr="A collection of icons of school supplies&#10;&#10;Description automatically generated">
              <a:extLst>
                <a:ext uri="{FF2B5EF4-FFF2-40B4-BE49-F238E27FC236}">
                  <a16:creationId xmlns:a16="http://schemas.microsoft.com/office/drawing/2014/main" id="{41FF2789-8757-B2B9-E4FD-33544F38E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06" t="17264" r="16808" b="72685"/>
            <a:stretch/>
          </p:blipFill>
          <p:spPr>
            <a:xfrm>
              <a:off x="2600390" y="2189909"/>
              <a:ext cx="753440" cy="68928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EF9C04-B8AF-9BBE-7B55-C4945A86FA56}"/>
              </a:ext>
            </a:extLst>
          </p:cNvPr>
          <p:cNvGrpSpPr/>
          <p:nvPr/>
        </p:nvGrpSpPr>
        <p:grpSpPr>
          <a:xfrm>
            <a:off x="720561" y="3353403"/>
            <a:ext cx="3160150" cy="1223515"/>
            <a:chOff x="720561" y="3353403"/>
            <a:chExt cx="3160150" cy="122351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87E42CF-27D4-BB8E-6BD1-1E55C51AA4CE}"/>
                </a:ext>
              </a:extLst>
            </p:cNvPr>
            <p:cNvGrpSpPr/>
            <p:nvPr/>
          </p:nvGrpSpPr>
          <p:grpSpPr>
            <a:xfrm>
              <a:off x="720561" y="3353403"/>
              <a:ext cx="3160150" cy="1223515"/>
              <a:chOff x="720561" y="3353403"/>
              <a:chExt cx="3160150" cy="1223515"/>
            </a:xfrm>
          </p:grpSpPr>
          <p:sp>
            <p:nvSpPr>
              <p:cNvPr id="22" name="Rounded Rectangular Callout 43">
                <a:extLst>
                  <a:ext uri="{FF2B5EF4-FFF2-40B4-BE49-F238E27FC236}">
                    <a16:creationId xmlns:a16="http://schemas.microsoft.com/office/drawing/2014/main" id="{27FD9DBA-1B5B-4160-000B-CB34EC4E6AC7}"/>
                  </a:ext>
                </a:extLst>
              </p:cNvPr>
              <p:cNvSpPr/>
              <p:nvPr/>
            </p:nvSpPr>
            <p:spPr>
              <a:xfrm>
                <a:off x="1236163" y="3353403"/>
                <a:ext cx="2644548" cy="1223515"/>
              </a:xfrm>
              <a:prstGeom prst="wedgeRoundRectCallout">
                <a:avLst>
                  <a:gd name="adj1" fmla="val 55235"/>
                  <a:gd name="adj2" fmla="val 20112"/>
                  <a:gd name="adj3" fmla="val 1666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37517" dist="26292" dir="5400000" algn="ctr" rotWithShape="0">
                  <a:srgbClr val="000000">
                    <a:alpha val="10043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94F3A0-CFE7-754B-9C89-404A1BEB1CA1}"/>
                  </a:ext>
                </a:extLst>
              </p:cNvPr>
              <p:cNvSpPr txBox="1"/>
              <p:nvPr/>
            </p:nvSpPr>
            <p:spPr>
              <a:xfrm>
                <a:off x="720561" y="3446896"/>
                <a:ext cx="25685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b="1">
                  <a:solidFill>
                    <a:srgbClr val="FF6400"/>
                  </a:solidFill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B9C2B0-BB0A-BA61-2124-971D56A7CF1C}"/>
                  </a:ext>
                </a:extLst>
              </p:cNvPr>
              <p:cNvSpPr txBox="1"/>
              <p:nvPr/>
            </p:nvSpPr>
            <p:spPr>
              <a:xfrm>
                <a:off x="1462772" y="3415157"/>
                <a:ext cx="22662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Learning by Doing</a:t>
                </a:r>
                <a:endParaRPr lang="en-NL" sz="1600" b="1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1" name="Picture 20" descr="A collection of icons of school supplies&#10;&#10;Description automatically generated">
              <a:extLst>
                <a:ext uri="{FF2B5EF4-FFF2-40B4-BE49-F238E27FC236}">
                  <a16:creationId xmlns:a16="http://schemas.microsoft.com/office/drawing/2014/main" id="{855AB86C-FCD1-4931-3FE6-D9DCEEEC1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99" t="4807" r="58572" b="86580"/>
            <a:stretch/>
          </p:blipFill>
          <p:spPr>
            <a:xfrm>
              <a:off x="2234853" y="3821381"/>
              <a:ext cx="722129" cy="590549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3D96C6-5BFD-8964-4853-B30A6F9CB2DA}"/>
              </a:ext>
            </a:extLst>
          </p:cNvPr>
          <p:cNvGrpSpPr/>
          <p:nvPr/>
        </p:nvGrpSpPr>
        <p:grpSpPr>
          <a:xfrm>
            <a:off x="7783018" y="4844491"/>
            <a:ext cx="3088875" cy="1405848"/>
            <a:chOff x="7783018" y="4844491"/>
            <a:chExt cx="3088875" cy="14058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DCEED65-591E-1A75-1AF2-793E050D8C8E}"/>
                </a:ext>
              </a:extLst>
            </p:cNvPr>
            <p:cNvGrpSpPr/>
            <p:nvPr/>
          </p:nvGrpSpPr>
          <p:grpSpPr>
            <a:xfrm>
              <a:off x="7783018" y="4844491"/>
              <a:ext cx="3088875" cy="1405848"/>
              <a:chOff x="7783018" y="4844491"/>
              <a:chExt cx="3088875" cy="1405848"/>
            </a:xfrm>
          </p:grpSpPr>
          <p:sp>
            <p:nvSpPr>
              <p:cNvPr id="28" name="Rounded Rectangular Callout 58">
                <a:extLst>
                  <a:ext uri="{FF2B5EF4-FFF2-40B4-BE49-F238E27FC236}">
                    <a16:creationId xmlns:a16="http://schemas.microsoft.com/office/drawing/2014/main" id="{3E8EFE93-EB99-B5FD-91A7-C512049DA0F6}"/>
                  </a:ext>
                </a:extLst>
              </p:cNvPr>
              <p:cNvSpPr/>
              <p:nvPr/>
            </p:nvSpPr>
            <p:spPr>
              <a:xfrm>
                <a:off x="7783018" y="4844491"/>
                <a:ext cx="3088875" cy="1405848"/>
              </a:xfrm>
              <a:prstGeom prst="wedgeRoundRectCallout">
                <a:avLst>
                  <a:gd name="adj1" fmla="val -54361"/>
                  <a:gd name="adj2" fmla="val 19977"/>
                  <a:gd name="adj3" fmla="val 1666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37517" dist="26292" dir="5400000" algn="ctr" rotWithShape="0">
                  <a:srgbClr val="000000">
                    <a:alpha val="10043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E775EF-9EEF-24F2-2BA2-17CB50B494CD}"/>
                  </a:ext>
                </a:extLst>
              </p:cNvPr>
              <p:cNvSpPr txBox="1"/>
              <p:nvPr/>
            </p:nvSpPr>
            <p:spPr>
              <a:xfrm>
                <a:off x="7979745" y="4896512"/>
                <a:ext cx="25645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Developing an Intuition of Complex Topics</a:t>
                </a:r>
                <a:endParaRPr lang="en-NL" sz="1600" b="1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B6C50CF-0BBF-175D-B6EF-8A21168F96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155" t="18427" r="4253" b="72724"/>
            <a:stretch/>
          </p:blipFill>
          <p:spPr>
            <a:xfrm>
              <a:off x="8933106" y="5558879"/>
              <a:ext cx="657806" cy="606859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CCBA66-F70F-958A-EF0E-DEC871350EF7}"/>
              </a:ext>
            </a:extLst>
          </p:cNvPr>
          <p:cNvGrpSpPr/>
          <p:nvPr/>
        </p:nvGrpSpPr>
        <p:grpSpPr>
          <a:xfrm>
            <a:off x="7756899" y="2978222"/>
            <a:ext cx="3198938" cy="1473495"/>
            <a:chOff x="7756899" y="2978222"/>
            <a:chExt cx="3198938" cy="1473495"/>
          </a:xfrm>
        </p:grpSpPr>
        <p:sp>
          <p:nvSpPr>
            <p:cNvPr id="31" name="Rounded Rectangular Callout 49">
              <a:extLst>
                <a:ext uri="{FF2B5EF4-FFF2-40B4-BE49-F238E27FC236}">
                  <a16:creationId xmlns:a16="http://schemas.microsoft.com/office/drawing/2014/main" id="{BE164086-09EF-97C5-8F8C-2CDC96F35578}"/>
                </a:ext>
              </a:extLst>
            </p:cNvPr>
            <p:cNvSpPr/>
            <p:nvPr/>
          </p:nvSpPr>
          <p:spPr>
            <a:xfrm>
              <a:off x="7756899" y="2978222"/>
              <a:ext cx="3198938" cy="1473495"/>
            </a:xfrm>
            <a:prstGeom prst="wedgeRoundRectCallout">
              <a:avLst>
                <a:gd name="adj1" fmla="val -54361"/>
                <a:gd name="adj2" fmla="val 19977"/>
                <a:gd name="adj3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37517" dist="26292" dir="5400000" algn="ctr" rotWithShape="0">
                <a:srgbClr val="000000">
                  <a:alpha val="1004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4EC11E-F564-C252-AF64-710F1DEABD43}"/>
                </a:ext>
              </a:extLst>
            </p:cNvPr>
            <p:cNvSpPr txBox="1"/>
            <p:nvPr/>
          </p:nvSpPr>
          <p:spPr>
            <a:xfrm>
              <a:off x="8072842" y="3115887"/>
              <a:ext cx="25670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Connect with Real Problems</a:t>
              </a:r>
              <a:endParaRPr lang="en-NL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2CD1C89-24D9-E275-B627-29A93F938D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00" t="72604" r="59701" b="17699"/>
            <a:stretch/>
          </p:blipFill>
          <p:spPr>
            <a:xfrm>
              <a:off x="9024704" y="3690207"/>
              <a:ext cx="541686" cy="665047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EF3CB3-1299-282E-39F1-53684A3B7A88}"/>
              </a:ext>
            </a:extLst>
          </p:cNvPr>
          <p:cNvGrpSpPr/>
          <p:nvPr/>
        </p:nvGrpSpPr>
        <p:grpSpPr>
          <a:xfrm>
            <a:off x="1038631" y="4964799"/>
            <a:ext cx="3328827" cy="1213929"/>
            <a:chOff x="1119882" y="5190058"/>
            <a:chExt cx="3328827" cy="121392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106E9D5-FC1B-C67E-5E7B-6E57DB6D30CA}"/>
                </a:ext>
              </a:extLst>
            </p:cNvPr>
            <p:cNvGrpSpPr/>
            <p:nvPr/>
          </p:nvGrpSpPr>
          <p:grpSpPr>
            <a:xfrm>
              <a:off x="1119882" y="5190058"/>
              <a:ext cx="3328827" cy="1213929"/>
              <a:chOff x="1119882" y="5190058"/>
              <a:chExt cx="3328827" cy="1213929"/>
            </a:xfrm>
          </p:grpSpPr>
          <p:sp>
            <p:nvSpPr>
              <p:cNvPr id="37" name="Rounded Rectangular Callout 46">
                <a:extLst>
                  <a:ext uri="{FF2B5EF4-FFF2-40B4-BE49-F238E27FC236}">
                    <a16:creationId xmlns:a16="http://schemas.microsoft.com/office/drawing/2014/main" id="{C15315E6-A165-081C-1EA2-67050D9D1DE0}"/>
                  </a:ext>
                </a:extLst>
              </p:cNvPr>
              <p:cNvSpPr/>
              <p:nvPr/>
            </p:nvSpPr>
            <p:spPr>
              <a:xfrm>
                <a:off x="1119882" y="5190058"/>
                <a:ext cx="3328827" cy="1213929"/>
              </a:xfrm>
              <a:prstGeom prst="wedgeRoundRectCallout">
                <a:avLst>
                  <a:gd name="adj1" fmla="val 55235"/>
                  <a:gd name="adj2" fmla="val 20112"/>
                  <a:gd name="adj3" fmla="val 1666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37517" dist="26292" dir="5400000" algn="ctr" rotWithShape="0">
                  <a:srgbClr val="000000">
                    <a:alpha val="10043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FFF6CB-50F7-0124-BF00-280E904DC107}"/>
                  </a:ext>
                </a:extLst>
              </p:cNvPr>
              <p:cNvSpPr txBox="1"/>
              <p:nvPr/>
            </p:nvSpPr>
            <p:spPr>
              <a:xfrm>
                <a:off x="1258650" y="5311231"/>
                <a:ext cx="30512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Applying Concepts</a:t>
                </a:r>
                <a:endParaRPr lang="en-NL" sz="1400" b="1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ADB6B0D-6686-BB7B-0D75-BA8ED3BF01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5" t="32442" r="72593" b="59549"/>
            <a:stretch/>
          </p:blipFill>
          <p:spPr>
            <a:xfrm>
              <a:off x="2473220" y="5701064"/>
              <a:ext cx="622148" cy="549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58555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F709B4-D080-4EE0-B4F5-EC6CD79D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Deeply Rooted in Education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E9CF32-7666-8B45-B3F5-10136EDDC5E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065588"/>
            <a:ext cx="12074525" cy="779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MATLAB and Simulink are the tools of inspiration and innovation used by students, educators, and researchers around the world.</a:t>
            </a:r>
          </a:p>
          <a:p>
            <a:endParaRPr lang="en-US" sz="1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D07B15-B26A-4CEA-8873-732A8280FF54}"/>
              </a:ext>
            </a:extLst>
          </p:cNvPr>
          <p:cNvGrpSpPr/>
          <p:nvPr/>
        </p:nvGrpSpPr>
        <p:grpSpPr>
          <a:xfrm>
            <a:off x="4706336" y="4453238"/>
            <a:ext cx="2743200" cy="2032377"/>
            <a:chOff x="4320795" y="4547834"/>
            <a:chExt cx="2743200" cy="2032377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2ABC7CF-6D67-4849-A56A-428346C3A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7811" y="4547834"/>
              <a:ext cx="1025295" cy="102529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237BEEB-8BF2-452B-BC50-FDA37551B176}"/>
                </a:ext>
              </a:extLst>
            </p:cNvPr>
            <p:cNvSpPr/>
            <p:nvPr/>
          </p:nvSpPr>
          <p:spPr>
            <a:xfrm>
              <a:off x="4320795" y="5574371"/>
              <a:ext cx="2743200" cy="100584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ctr">
                <a:spcAft>
                  <a:spcPts val="400"/>
                </a:spcAft>
                <a:tabLst>
                  <a:tab pos="1544638" algn="l"/>
                </a:tabLst>
              </a:pPr>
              <a:r>
                <a:rPr lang="en-US" sz="2400" b="1">
                  <a:solidFill>
                    <a:srgbClr val="035691"/>
                  </a:solidFill>
                  <a:latin typeface="Arial" panose="020B0604020202020204" pitchFamily="34" charset="0"/>
                </a:rPr>
                <a:t>2400+</a:t>
              </a:r>
            </a:p>
            <a:p>
              <a:pPr algn="ctr">
                <a:spcAft>
                  <a:spcPts val="400"/>
                </a:spcAft>
                <a:tabLst>
                  <a:tab pos="1544638" algn="l"/>
                </a:tabLst>
              </a:pPr>
              <a:r>
                <a:rPr lang="en-US">
                  <a:solidFill>
                    <a:schemeClr val="tx2"/>
                  </a:solidFill>
                  <a:latin typeface="Arial" panose="020B0604020202020204" pitchFamily="34" charset="0"/>
                </a:rPr>
                <a:t>MATLAB and Simulink-based books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458C39B-6F0D-48EA-ADDE-DE689ABB33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00"/>
          <a:stretch/>
        </p:blipFill>
        <p:spPr>
          <a:xfrm>
            <a:off x="-20755" y="1288242"/>
            <a:ext cx="12192000" cy="27432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5C7A45-C51A-4669-97F6-96D552C98522}"/>
              </a:ext>
            </a:extLst>
          </p:cNvPr>
          <p:cNvSpPr txBox="1"/>
          <p:nvPr/>
        </p:nvSpPr>
        <p:spPr>
          <a:xfrm>
            <a:off x="20755" y="1371540"/>
            <a:ext cx="6394793" cy="2576603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solidFill>
              <a:schemeClr val="tx1"/>
            </a:solidFill>
          </a:ln>
        </p:spPr>
        <p:txBody>
          <a:bodyPr wrap="square" lIns="182880" tIns="182880" rIns="182880" bIns="182880" rtlCol="0" anchor="t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“MATLAB can be used to </a:t>
            </a:r>
            <a:r>
              <a:rPr lang="en-US" sz="16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 complex math calculations</a:t>
            </a: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allows more time for students to </a:t>
            </a:r>
            <a:r>
              <a:rPr lang="en-US" sz="16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engineering problem-solving skills</a:t>
            </a: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extrapolate those skills to more complex, </a:t>
            </a:r>
            <a:r>
              <a:rPr lang="en-US" sz="16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real-world applications</a:t>
            </a:r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beyond just heat and mass transfer.”</a:t>
            </a:r>
            <a:b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- Donald Sebastian, Professor of Chemicals and Materials Engineering, New Jersey Institute of Technology.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aphic 20">
            <a:extLst>
              <a:ext uri="{FF2B5EF4-FFF2-40B4-BE49-F238E27FC236}">
                <a16:creationId xmlns:a16="http://schemas.microsoft.com/office/drawing/2014/main" id="{662B0333-A409-4EB7-957E-916BED54B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61" y="4516385"/>
            <a:ext cx="962437" cy="962437"/>
          </a:xfrm>
          <a:prstGeom prst="rect">
            <a:avLst/>
          </a:prstGeom>
        </p:spPr>
      </p:pic>
      <p:pic>
        <p:nvPicPr>
          <p:cNvPr id="32" name="Graphic 29">
            <a:extLst>
              <a:ext uri="{FF2B5EF4-FFF2-40B4-BE49-F238E27FC236}">
                <a16:creationId xmlns:a16="http://schemas.microsoft.com/office/drawing/2014/main" id="{CE1DE6C7-350F-4963-85AE-FD641D367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806" y="4437842"/>
            <a:ext cx="1119521" cy="11195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E6F785-05BE-4A52-99EB-B2515A27E513}"/>
              </a:ext>
            </a:extLst>
          </p:cNvPr>
          <p:cNvSpPr/>
          <p:nvPr/>
        </p:nvSpPr>
        <p:spPr>
          <a:xfrm>
            <a:off x="975739" y="5478385"/>
            <a:ext cx="2926080" cy="1066959"/>
          </a:xfrm>
          <a:prstGeom prst="rect">
            <a:avLst/>
          </a:prstGeom>
        </p:spPr>
        <p:txBody>
          <a:bodyPr wrap="square" lIns="0" tIns="45720" rIns="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400" b="1">
                <a:solidFill>
                  <a:srgbClr val="035691"/>
                </a:solidFill>
                <a:latin typeface="Arial"/>
                <a:cs typeface="Arial"/>
              </a:rPr>
              <a:t>7000+</a:t>
            </a:r>
          </a:p>
          <a:p>
            <a:pPr algn="ctr"/>
            <a:r>
              <a:rPr lang="en-US">
                <a:solidFill>
                  <a:srgbClr val="035691"/>
                </a:solidFill>
                <a:latin typeface="Arial"/>
                <a:cs typeface="Arial"/>
              </a:rPr>
              <a:t>Schools </a:t>
            </a:r>
            <a:br>
              <a:rPr lang="en-US">
                <a:latin typeface="Arial" panose="020B0604020202020204" pitchFamily="34" charset="0"/>
              </a:rPr>
            </a:br>
            <a:r>
              <a:rPr lang="en-US">
                <a:solidFill>
                  <a:srgbClr val="035691"/>
                </a:solidFill>
                <a:latin typeface="Arial"/>
                <a:cs typeface="Arial"/>
              </a:rPr>
              <a:t>teach with our software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8E39F8-5FE7-4210-B66B-A18AF651E1CB}"/>
              </a:ext>
            </a:extLst>
          </p:cNvPr>
          <p:cNvSpPr/>
          <p:nvPr/>
        </p:nvSpPr>
        <p:spPr>
          <a:xfrm>
            <a:off x="8248526" y="5480496"/>
            <a:ext cx="2926080" cy="1005840"/>
          </a:xfrm>
          <a:prstGeom prst="rect">
            <a:avLst/>
          </a:prstGeom>
        </p:spPr>
        <p:txBody>
          <a:bodyPr wrap="square" lIns="0" rIns="0">
            <a:noAutofit/>
          </a:bodyPr>
          <a:lstStyle/>
          <a:p>
            <a:pPr algn="ctr">
              <a:spcAft>
                <a:spcPts val="400"/>
              </a:spcAft>
              <a:tabLst>
                <a:tab pos="1544638" algn="l"/>
              </a:tabLst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</a:rPr>
              <a:t>Tens of Thousands</a:t>
            </a:r>
            <a:endParaRPr lang="en-US" sz="16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tabLst>
                <a:tab pos="1544638" algn="l"/>
              </a:tabLst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</a:rPr>
              <a:t>of skilled graduates enter the workforce each year</a:t>
            </a:r>
          </a:p>
        </p:txBody>
      </p:sp>
    </p:spTree>
    <p:extLst>
      <p:ext uri="{BB962C8B-B14F-4D97-AF65-F5344CB8AC3E}">
        <p14:creationId xmlns:p14="http://schemas.microsoft.com/office/powerpoint/2010/main" val="36124774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788ADF-172E-6D2A-9B76-1EEA6E89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25369" cy="1325563"/>
          </a:xfrm>
        </p:spPr>
        <p:txBody>
          <a:bodyPr/>
          <a:lstStyle/>
          <a:p>
            <a:r>
              <a:rPr lang="en-US" dirty="0"/>
              <a:t>Campus-Wide Access to MATLAB and Simulink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20047D-C774-21E5-9F16-7976A121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C285-295C-3B67-F3E2-B751C2AEEA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00188"/>
            <a:ext cx="10769600" cy="593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With </a:t>
            </a:r>
            <a:r>
              <a:rPr lang="en-US" sz="1800" b="1" dirty="0"/>
              <a:t>Campus-Wide access</a:t>
            </a:r>
            <a:r>
              <a:rPr lang="en-US" sz="1800" dirty="0"/>
              <a:t> to </a:t>
            </a:r>
            <a:r>
              <a:rPr lang="en-US" sz="1800" b="1" dirty="0"/>
              <a:t>MATLAB</a:t>
            </a:r>
            <a:r>
              <a:rPr lang="en-US" sz="1800" dirty="0"/>
              <a:t> and </a:t>
            </a:r>
            <a:r>
              <a:rPr lang="en-US" sz="1800" b="1" dirty="0"/>
              <a:t>Simulink</a:t>
            </a:r>
            <a:r>
              <a:rPr lang="en-US" sz="1800" dirty="0"/>
              <a:t>, all faculty, staff, students, and researchers get </a:t>
            </a:r>
            <a:r>
              <a:rPr lang="en-US" sz="1800" b="1" dirty="0"/>
              <a:t>unlimited use</a:t>
            </a:r>
            <a:r>
              <a:rPr lang="en-US" sz="1800" dirty="0"/>
              <a:t> of desktop and online products, on and off campus, on any device.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99EAE1-BEAB-6E45-D124-52EE4F74F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87808"/>
              </p:ext>
            </p:extLst>
          </p:nvPr>
        </p:nvGraphicFramePr>
        <p:xfrm>
          <a:off x="609600" y="2418149"/>
          <a:ext cx="107696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354242995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33968679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Student Success in the Classroom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8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Self-Paced Courses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MATLAB proficiency with interactive online courses.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MATLAB Grader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interactive, auto-graded course assignments with instant learner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6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Additional Classroom Resources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curricula with ready-to-use courseware and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MATLAB Onramp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students up to speed quickly on MATLAB with a free, two-hour tutorial.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1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Teaching with MATLAB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 best practices for teaching with MathWorks online learning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MATLAB Online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Collaborate more efficiently on projects through MATLAB Online with MATLAB Drive.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9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69066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3FB50-69EE-DDFA-85EE-4D12BC3F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4761AF-FACE-0B65-1F01-5C979C22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293166" cy="1325563"/>
          </a:xfrm>
        </p:spPr>
        <p:txBody>
          <a:bodyPr/>
          <a:lstStyle/>
          <a:p>
            <a:r>
              <a:rPr lang="en-US" dirty="0"/>
              <a:t>Campus-Wide Access to MATLAB and Simulink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BFA8C-C1C0-32AC-9C54-B39115AB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3A0E32-6B3A-E68A-08CC-EC4B9D09B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430250"/>
              </p:ext>
            </p:extLst>
          </p:nvPr>
        </p:nvGraphicFramePr>
        <p:xfrm>
          <a:off x="609600" y="1568450"/>
          <a:ext cx="10769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354242995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33968679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Research and Foster Collaboration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8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MATLAB Live Editor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computational code stories in an executable notebook.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MATLAB Parallel Server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Prototype and debug applications and scale to clusters without recoding.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6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MATLAB Drive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 data and 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MathWorks File Exchange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shared code and custom toolboxes.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1264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F527D-8097-02ED-2872-9B15C2F18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879584"/>
              </p:ext>
            </p:extLst>
          </p:nvPr>
        </p:nvGraphicFramePr>
        <p:xfrm>
          <a:off x="605466" y="3219450"/>
          <a:ext cx="10769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3542429950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33968679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Prepare for In-Demand Careers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8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Computational Thinking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computational thinking tasks with MATLAB courseware.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MathWorks Startup and Accelerator Program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products and reach early-stage milestones fast with MATLAB and Simulink.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6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Project-Based Learning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cool projects while building valuable expertise.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1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14037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1D553A-C1CC-E663-7A6B-78C9CA1D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89875" cy="1325563"/>
          </a:xfrm>
        </p:spPr>
        <p:txBody>
          <a:bodyPr/>
          <a:lstStyle/>
          <a:p>
            <a:r>
              <a:rPr lang="en-US" dirty="0"/>
              <a:t>Live Script: Computational Notebooks with Live Editor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6C281-4B03-4582-2077-AC9B8FAB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Example live scripts">
            <a:extLst>
              <a:ext uri="{FF2B5EF4-FFF2-40B4-BE49-F238E27FC236}">
                <a16:creationId xmlns:a16="http://schemas.microsoft.com/office/drawing/2014/main" id="{BE1C792C-F6E4-92C0-D9D9-407117C2D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42396"/>
            <a:ext cx="6368716" cy="195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54C2E68-397C-C46A-EFC3-1099E915B504}"/>
              </a:ext>
            </a:extLst>
          </p:cNvPr>
          <p:cNvGrpSpPr/>
          <p:nvPr/>
        </p:nvGrpSpPr>
        <p:grpSpPr>
          <a:xfrm>
            <a:off x="609600" y="3512698"/>
            <a:ext cx="7732529" cy="2346681"/>
            <a:chOff x="134212" y="4164887"/>
            <a:chExt cx="6786226" cy="234668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F0C7DB-41E6-7535-E8FE-4E0B47B0D287}"/>
                </a:ext>
              </a:extLst>
            </p:cNvPr>
            <p:cNvSpPr txBox="1"/>
            <p:nvPr/>
          </p:nvSpPr>
          <p:spPr>
            <a:xfrm>
              <a:off x="219602" y="4209546"/>
              <a:ext cx="6700836" cy="2267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66738" lvl="1">
                <a:spcBef>
                  <a:spcPts val="400"/>
                </a:spcBef>
                <a:spcAft>
                  <a:spcPts val="400"/>
                </a:spcAft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Create </a:t>
              </a:r>
              <a:r>
                <a:rPr lang="en-US" b="1" dirty="0">
                  <a:latin typeface="Arial" pitchFamily="34" charset="0"/>
                  <a:cs typeface="Arial" pitchFamily="34" charset="0"/>
                </a:rPr>
                <a:t>engaging lectures.</a:t>
              </a:r>
            </a:p>
            <a:p>
              <a:pPr marL="1309688" lvl="2" indent="-285750"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Add interactivity.</a:t>
              </a:r>
            </a:p>
            <a:p>
              <a:pPr marL="1309688" lvl="2" indent="-285750"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Code, text, images &amp; outputs together.</a:t>
              </a:r>
            </a:p>
            <a:p>
              <a:pPr marL="566738" lvl="1">
                <a:spcBef>
                  <a:spcPts val="400"/>
                </a:spcBef>
                <a:spcAft>
                  <a:spcPts val="400"/>
                </a:spcAft>
              </a:pPr>
              <a:r>
                <a:rPr lang="en-US" b="1" dirty="0">
                  <a:latin typeface="Arial" pitchFamily="34" charset="0"/>
                  <a:cs typeface="Arial" pitchFamily="34" charset="0"/>
                </a:rPr>
                <a:t>Share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live scripts directly with colleagues or students.</a:t>
              </a:r>
            </a:p>
            <a:p>
              <a:pPr marL="1309688" lvl="2" indent="-285750"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Export as report (pdf, docx,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etc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).</a:t>
              </a:r>
            </a:p>
            <a:p>
              <a:pPr marL="566738" lvl="1">
                <a:spcBef>
                  <a:spcPts val="400"/>
                </a:spcBef>
                <a:spcAft>
                  <a:spcPts val="400"/>
                </a:spcAft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Work in a </a:t>
              </a:r>
              <a:r>
                <a:rPr lang="en-US" b="1" dirty="0">
                  <a:latin typeface="Arial" pitchFamily="34" charset="0"/>
                  <a:cs typeface="Arial" pitchFamily="34" charset="0"/>
                </a:rPr>
                <a:t>single environment 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to eliminate context switching.</a:t>
              </a:r>
            </a:p>
          </p:txBody>
        </p:sp>
        <p:pic>
          <p:nvPicPr>
            <p:cNvPr id="7" name="Graphic 6" descr="Classroom with solid fill">
              <a:extLst>
                <a:ext uri="{FF2B5EF4-FFF2-40B4-BE49-F238E27FC236}">
                  <a16:creationId xmlns:a16="http://schemas.microsoft.com/office/drawing/2014/main" id="{78A70B17-1048-AAC8-3ED8-7F3FF65E48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8542" y="4164887"/>
              <a:ext cx="688157" cy="688157"/>
            </a:xfrm>
            <a:prstGeom prst="rect">
              <a:avLst/>
            </a:prstGeom>
          </p:spPr>
        </p:pic>
        <p:pic>
          <p:nvPicPr>
            <p:cNvPr id="8" name="Graphic 7" descr="Share with solid fill">
              <a:extLst>
                <a:ext uri="{FF2B5EF4-FFF2-40B4-BE49-F238E27FC236}">
                  <a16:creationId xmlns:a16="http://schemas.microsoft.com/office/drawing/2014/main" id="{39F2B11F-57F0-B037-5AF2-57E2ECD306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212" y="5082242"/>
              <a:ext cx="677762" cy="77904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07FE23-4FA1-067E-A081-BD634C781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909" y="6090488"/>
              <a:ext cx="592367" cy="421080"/>
            </a:xfrm>
            <a:prstGeom prst="rect">
              <a:avLst/>
            </a:prstGeom>
          </p:spPr>
        </p:pic>
      </p:grpSp>
      <p:pic>
        <p:nvPicPr>
          <p:cNvPr id="4098" name="Picture 2" descr="Solar Panel Output Estimator form, with code hidden, showing sample input selections and the resulting calculation and output plot">
            <a:extLst>
              <a:ext uri="{FF2B5EF4-FFF2-40B4-BE49-F238E27FC236}">
                <a16:creationId xmlns:a16="http://schemas.microsoft.com/office/drawing/2014/main" id="{CCF8D030-1A4F-8E7F-2B99-790D44830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75" y="1617983"/>
            <a:ext cx="3589325" cy="447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244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94564-F2AC-E490-EAA9-FAA19E61C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Training Suite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05A5D-96FF-15D0-1FBA-FDF309C6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4ED0D-3532-1A13-F9B7-5F676B6B14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6386513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Learn MATLAB and Simulink at your </a:t>
            </a:r>
            <a:r>
              <a:rPr lang="en-US" sz="1800" b="1" dirty="0"/>
              <a:t>own pace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Key benefits:</a:t>
            </a:r>
          </a:p>
          <a:p>
            <a:r>
              <a:rPr lang="en-US" sz="1800" dirty="0"/>
              <a:t>One year access to </a:t>
            </a:r>
            <a:r>
              <a:rPr lang="en-US" sz="1800" b="1" dirty="0"/>
              <a:t>online courses</a:t>
            </a:r>
            <a:r>
              <a:rPr lang="en-US" sz="1800" dirty="0"/>
              <a:t> through your </a:t>
            </a:r>
            <a:r>
              <a:rPr lang="en-US" sz="1800" b="1" dirty="0"/>
              <a:t>web browser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Coding exercises </a:t>
            </a:r>
            <a:r>
              <a:rPr lang="en-US" sz="1800" dirty="0"/>
              <a:t>&amp;</a:t>
            </a:r>
            <a:r>
              <a:rPr lang="en-US" sz="1800" b="1" dirty="0"/>
              <a:t> assessments</a:t>
            </a:r>
            <a:r>
              <a:rPr lang="en-US" sz="1800" dirty="0"/>
              <a:t>.</a:t>
            </a:r>
          </a:p>
          <a:p>
            <a:r>
              <a:rPr lang="en-US" sz="1800" dirty="0"/>
              <a:t>Sharable progress and completion </a:t>
            </a:r>
            <a:r>
              <a:rPr lang="en-US" sz="1800" b="1" dirty="0"/>
              <a:t>credentials</a:t>
            </a:r>
            <a:r>
              <a:rPr lang="en-US" sz="1800" dirty="0"/>
              <a:t>.</a:t>
            </a:r>
          </a:p>
          <a:p>
            <a:r>
              <a:rPr lang="en-US" sz="1800" dirty="0"/>
              <a:t>Explore </a:t>
            </a:r>
            <a:r>
              <a:rPr lang="en-US" sz="1800" b="1" dirty="0"/>
              <a:t>lessons</a:t>
            </a:r>
            <a:r>
              <a:rPr lang="en-US" sz="1800" dirty="0"/>
              <a:t>, </a:t>
            </a:r>
            <a:r>
              <a:rPr lang="en-US" sz="1800" b="1" dirty="0"/>
              <a:t>courses</a:t>
            </a:r>
            <a:r>
              <a:rPr lang="en-US" sz="1800" dirty="0"/>
              <a:t>, or full learning paths.</a:t>
            </a:r>
          </a:p>
          <a:p>
            <a:r>
              <a:rPr lang="en-US" sz="1800" dirty="0"/>
              <a:t>A </a:t>
            </a:r>
            <a:r>
              <a:rPr lang="en-US" sz="1800" b="1" dirty="0"/>
              <a:t>wide range</a:t>
            </a:r>
            <a:r>
              <a:rPr lang="en-US" sz="1800" dirty="0"/>
              <a:t> of topics.</a:t>
            </a:r>
          </a:p>
          <a:p>
            <a:r>
              <a:rPr lang="en-US" sz="1800" dirty="0">
                <a:hlinkClick r:id="rId3"/>
              </a:rPr>
              <a:t>See what content is in the Online Training Suite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 descr="A computer screen with a mouse and a video player&#10;&#10;AI-generated content may be incorrect.">
            <a:extLst>
              <a:ext uri="{FF2B5EF4-FFF2-40B4-BE49-F238E27FC236}">
                <a16:creationId xmlns:a16="http://schemas.microsoft.com/office/drawing/2014/main" id="{7C5C27C0-C785-A86C-0C2D-B5E425C0E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285" y="4787185"/>
            <a:ext cx="3559895" cy="1203267"/>
          </a:xfrm>
          <a:prstGeom prst="rect">
            <a:avLst/>
          </a:prstGeom>
        </p:spPr>
      </p:pic>
      <p:pic>
        <p:nvPicPr>
          <p:cNvPr id="14" name="Picture 1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353F836-D541-74B9-DDCC-A6AB7B1B56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9569"/>
          <a:stretch>
            <a:fillRect/>
          </a:stretch>
        </p:blipFill>
        <p:spPr>
          <a:xfrm>
            <a:off x="7134732" y="1311348"/>
            <a:ext cx="4219068" cy="24525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CF4C93-113C-27D2-0957-B629D9C6A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522" y="3962019"/>
            <a:ext cx="3471375" cy="2385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D1DFD8-45E8-4CAE-0CB1-97563A7ED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810" y="3962019"/>
            <a:ext cx="3471376" cy="2394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65561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creenshot Frame">
            <a:extLst>
              <a:ext uri="{FF2B5EF4-FFF2-40B4-BE49-F238E27FC236}">
                <a16:creationId xmlns:a16="http://schemas.microsoft.com/office/drawing/2014/main" id="{F5F4F738-4BF5-77FE-39F2-BDB93439E60E}"/>
              </a:ext>
            </a:extLst>
          </p:cNvPr>
          <p:cNvSpPr/>
          <p:nvPr/>
        </p:nvSpPr>
        <p:spPr>
          <a:xfrm>
            <a:off x="396880" y="6368200"/>
            <a:ext cx="5940947" cy="338554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Screenshot Frame">
            <a:extLst>
              <a:ext uri="{FF2B5EF4-FFF2-40B4-BE49-F238E27FC236}">
                <a16:creationId xmlns:a16="http://schemas.microsoft.com/office/drawing/2014/main" id="{D9B64081-5BDF-445C-AC3B-2D8418D26F80}"/>
              </a:ext>
            </a:extLst>
          </p:cNvPr>
          <p:cNvSpPr/>
          <p:nvPr/>
        </p:nvSpPr>
        <p:spPr>
          <a:xfrm>
            <a:off x="6502401" y="1270000"/>
            <a:ext cx="5375273" cy="5385954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7602F-E274-475C-B6C5-9CC7B8EF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Online Training Suite</a:t>
            </a:r>
          </a:p>
        </p:txBody>
      </p:sp>
      <p:sp>
        <p:nvSpPr>
          <p:cNvPr id="8" name="Modern Intro">
            <a:extLst>
              <a:ext uri="{FF2B5EF4-FFF2-40B4-BE49-F238E27FC236}">
                <a16:creationId xmlns:a16="http://schemas.microsoft.com/office/drawing/2014/main" id="{4351BAA7-C893-44CC-8C81-D5E731714549}"/>
              </a:ext>
            </a:extLst>
          </p:cNvPr>
          <p:cNvSpPr txBox="1"/>
          <p:nvPr/>
        </p:nvSpPr>
        <p:spPr>
          <a:xfrm>
            <a:off x="506577" y="1219440"/>
            <a:ext cx="5588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ctr"/>
            <a:r>
              <a:rPr lang="en-US">
                <a:solidFill>
                  <a:srgbClr val="2E3A46"/>
                </a:solidFill>
                <a:latin typeface="Arial"/>
                <a:cs typeface="Arial"/>
              </a:rPr>
              <a:t>Build skills faster with unlimited access to self-paced MATLAB and Simulink learning.</a:t>
            </a:r>
          </a:p>
        </p:txBody>
      </p:sp>
      <p:sp>
        <p:nvSpPr>
          <p:cNvPr id="9" name="Card 1">
            <a:extLst>
              <a:ext uri="{FF2B5EF4-FFF2-40B4-BE49-F238E27FC236}">
                <a16:creationId xmlns:a16="http://schemas.microsoft.com/office/drawing/2014/main" id="{01F4155A-23C9-4994-A0F2-B7BE21DCB6D4}"/>
              </a:ext>
            </a:extLst>
          </p:cNvPr>
          <p:cNvSpPr/>
          <p:nvPr/>
        </p:nvSpPr>
        <p:spPr>
          <a:xfrm>
            <a:off x="424740" y="2143935"/>
            <a:ext cx="2814470" cy="1371600"/>
          </a:xfrm>
          <a:prstGeom prst="roundRect">
            <a:avLst/>
          </a:prstGeom>
          <a:solidFill>
            <a:srgbClr val="EAF3FF"/>
          </a:solidFill>
          <a:ln w="25400" cap="flat" cmpd="sng" algn="ctr">
            <a:solidFill>
              <a:srgbClr val="176DA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rd Accent 1">
            <a:extLst>
              <a:ext uri="{FF2B5EF4-FFF2-40B4-BE49-F238E27FC236}">
                <a16:creationId xmlns:a16="http://schemas.microsoft.com/office/drawing/2014/main" id="{495A941D-B8E2-4391-85A1-56C3ED466DF1}"/>
              </a:ext>
            </a:extLst>
          </p:cNvPr>
          <p:cNvSpPr/>
          <p:nvPr/>
        </p:nvSpPr>
        <p:spPr>
          <a:xfrm>
            <a:off x="379373" y="2580200"/>
            <a:ext cx="101600" cy="457200"/>
          </a:xfrm>
          <a:prstGeom prst="roundRect">
            <a:avLst/>
          </a:prstGeom>
          <a:solidFill>
            <a:srgbClr val="2F6DB5"/>
          </a:solidFill>
          <a:ln w="25400" cap="flat" cmpd="sng" algn="ctr">
            <a:solidFill>
              <a:srgbClr val="2F6DB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Card Text 1">
            <a:extLst>
              <a:ext uri="{FF2B5EF4-FFF2-40B4-BE49-F238E27FC236}">
                <a16:creationId xmlns:a16="http://schemas.microsoft.com/office/drawing/2014/main" id="{7320C181-EE22-4A39-A119-DD7D1E90FC1A}"/>
              </a:ext>
            </a:extLst>
          </p:cNvPr>
          <p:cNvSpPr txBox="1"/>
          <p:nvPr/>
        </p:nvSpPr>
        <p:spPr>
          <a:xfrm>
            <a:off x="645545" y="2383695"/>
            <a:ext cx="2448199" cy="67710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63A70"/>
                </a:solidFill>
                <a:latin typeface="Arial"/>
                <a:cs typeface="Arial"/>
              </a:rPr>
              <a:t>80 Short Courses</a:t>
            </a:r>
            <a:endParaRPr lang="en-US" sz="1600">
              <a:solidFill>
                <a:srgbClr val="334155"/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rgbClr val="334155"/>
                </a:solidFill>
                <a:latin typeface="Arial"/>
                <a:cs typeface="Arial"/>
              </a:rPr>
              <a:t>Quick lessons for targeted upskilling and fast onboarding.</a:t>
            </a:r>
          </a:p>
        </p:txBody>
      </p:sp>
      <p:sp>
        <p:nvSpPr>
          <p:cNvPr id="15" name="Card 2">
            <a:extLst>
              <a:ext uri="{FF2B5EF4-FFF2-40B4-BE49-F238E27FC236}">
                <a16:creationId xmlns:a16="http://schemas.microsoft.com/office/drawing/2014/main" id="{EEF84F2B-7718-4B5D-B981-195765E3E180}"/>
              </a:ext>
            </a:extLst>
          </p:cNvPr>
          <p:cNvSpPr/>
          <p:nvPr/>
        </p:nvSpPr>
        <p:spPr>
          <a:xfrm>
            <a:off x="3521477" y="2143935"/>
            <a:ext cx="2816352" cy="1372882"/>
          </a:xfrm>
          <a:prstGeom prst="roundRect">
            <a:avLst/>
          </a:prstGeom>
          <a:solidFill>
            <a:srgbClr val="EEF8F3"/>
          </a:solidFill>
          <a:ln w="25400" cap="flat" cmpd="sng" algn="ctr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Card Accent 2">
            <a:extLst>
              <a:ext uri="{FF2B5EF4-FFF2-40B4-BE49-F238E27FC236}">
                <a16:creationId xmlns:a16="http://schemas.microsoft.com/office/drawing/2014/main" id="{730C5DFE-B172-4FDA-ADC4-6BF97B4BDBE8}"/>
              </a:ext>
            </a:extLst>
          </p:cNvPr>
          <p:cNvSpPr/>
          <p:nvPr/>
        </p:nvSpPr>
        <p:spPr>
          <a:xfrm>
            <a:off x="3468829" y="2534790"/>
            <a:ext cx="101600" cy="457200"/>
          </a:xfrm>
          <a:prstGeom prst="roundRect">
            <a:avLst/>
          </a:prstGeom>
          <a:solidFill>
            <a:srgbClr val="2E8B57"/>
          </a:solidFill>
          <a:ln w="2540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Card Text 2">
            <a:extLst>
              <a:ext uri="{FF2B5EF4-FFF2-40B4-BE49-F238E27FC236}">
                <a16:creationId xmlns:a16="http://schemas.microsoft.com/office/drawing/2014/main" id="{BA6E1C89-8D38-4602-9561-BF063E7F66FE}"/>
              </a:ext>
            </a:extLst>
          </p:cNvPr>
          <p:cNvSpPr txBox="1"/>
          <p:nvPr/>
        </p:nvSpPr>
        <p:spPr>
          <a:xfrm>
            <a:off x="3801896" y="2347135"/>
            <a:ext cx="2108200" cy="89255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63A70"/>
                </a:solidFill>
                <a:latin typeface="Arial"/>
                <a:cs typeface="Arial"/>
              </a:rPr>
              <a:t>18 Learning Paths</a:t>
            </a:r>
            <a:endParaRPr lang="en-US" sz="1600">
              <a:solidFill>
                <a:srgbClr val="334155"/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rgbClr val="334155"/>
                </a:solidFill>
                <a:latin typeface="Arial"/>
                <a:cs typeface="Arial"/>
              </a:rPr>
              <a:t>Guided sequences that take learners from basics to applied skills.</a:t>
            </a:r>
          </a:p>
        </p:txBody>
      </p:sp>
      <p:sp>
        <p:nvSpPr>
          <p:cNvPr id="21" name="Card 3">
            <a:extLst>
              <a:ext uri="{FF2B5EF4-FFF2-40B4-BE49-F238E27FC236}">
                <a16:creationId xmlns:a16="http://schemas.microsoft.com/office/drawing/2014/main" id="{5B36A4BD-9CC3-4288-B4F4-0974C7FCBFCE}"/>
              </a:ext>
            </a:extLst>
          </p:cNvPr>
          <p:cNvSpPr/>
          <p:nvPr/>
        </p:nvSpPr>
        <p:spPr>
          <a:xfrm>
            <a:off x="424738" y="4910381"/>
            <a:ext cx="2816352" cy="1371600"/>
          </a:xfrm>
          <a:prstGeom prst="roundRect">
            <a:avLst/>
          </a:prstGeom>
          <a:solidFill>
            <a:srgbClr val="FFF4E8"/>
          </a:solidFill>
          <a:ln w="254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Card Accent 3">
            <a:extLst>
              <a:ext uri="{FF2B5EF4-FFF2-40B4-BE49-F238E27FC236}">
                <a16:creationId xmlns:a16="http://schemas.microsoft.com/office/drawing/2014/main" id="{86436FD9-949D-4A68-8C47-3DC3B49800BB}"/>
              </a:ext>
            </a:extLst>
          </p:cNvPr>
          <p:cNvSpPr/>
          <p:nvPr/>
        </p:nvSpPr>
        <p:spPr>
          <a:xfrm>
            <a:off x="380061" y="5320593"/>
            <a:ext cx="101600" cy="457200"/>
          </a:xfrm>
          <a:prstGeom prst="roundRect">
            <a:avLst/>
          </a:prstGeom>
          <a:solidFill>
            <a:srgbClr val="E28B2D"/>
          </a:solidFill>
          <a:ln w="25400" cap="flat" cmpd="sng" algn="ctr">
            <a:solidFill>
              <a:srgbClr val="E28B2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Card Text 3">
            <a:extLst>
              <a:ext uri="{FF2B5EF4-FFF2-40B4-BE49-F238E27FC236}">
                <a16:creationId xmlns:a16="http://schemas.microsoft.com/office/drawing/2014/main" id="{1B52DAB4-4CDC-430E-87FE-411BA071979D}"/>
              </a:ext>
            </a:extLst>
          </p:cNvPr>
          <p:cNvSpPr txBox="1"/>
          <p:nvPr/>
        </p:nvSpPr>
        <p:spPr>
          <a:xfrm>
            <a:off x="645545" y="5134448"/>
            <a:ext cx="2593665" cy="89255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63A70"/>
                </a:solidFill>
                <a:latin typeface="Arial"/>
                <a:cs typeface="Arial"/>
              </a:rPr>
              <a:t>Flexible formats</a:t>
            </a:r>
            <a:endParaRPr lang="en-US" sz="1600">
              <a:solidFill>
                <a:srgbClr val="334155"/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rgbClr val="334155"/>
                </a:solidFill>
                <a:latin typeface="Arial"/>
                <a:cs typeface="Arial"/>
              </a:rPr>
              <a:t>Choose individual lessons, full courses, or curated learning journeys.</a:t>
            </a:r>
          </a:p>
        </p:txBody>
      </p:sp>
      <p:sp>
        <p:nvSpPr>
          <p:cNvPr id="25" name="Card 4">
            <a:extLst>
              <a:ext uri="{FF2B5EF4-FFF2-40B4-BE49-F238E27FC236}">
                <a16:creationId xmlns:a16="http://schemas.microsoft.com/office/drawing/2014/main" id="{2361C77B-B2C6-4EF4-A61F-672C3028682E}"/>
              </a:ext>
            </a:extLst>
          </p:cNvPr>
          <p:cNvSpPr/>
          <p:nvPr/>
        </p:nvSpPr>
        <p:spPr>
          <a:xfrm>
            <a:off x="3521477" y="4894033"/>
            <a:ext cx="2816352" cy="1371600"/>
          </a:xfrm>
          <a:prstGeom prst="roundRect">
            <a:avLst/>
          </a:prstGeom>
          <a:solidFill>
            <a:srgbClr val="F3EEFF"/>
          </a:solidFill>
          <a:ln w="25400" cap="flat" cmpd="sng" algn="ctr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Card Accent 4">
            <a:extLst>
              <a:ext uri="{FF2B5EF4-FFF2-40B4-BE49-F238E27FC236}">
                <a16:creationId xmlns:a16="http://schemas.microsoft.com/office/drawing/2014/main" id="{99FA859E-6980-4FBA-82B5-4E1F98EEA6ED}"/>
              </a:ext>
            </a:extLst>
          </p:cNvPr>
          <p:cNvSpPr/>
          <p:nvPr/>
        </p:nvSpPr>
        <p:spPr>
          <a:xfrm>
            <a:off x="3487124" y="5307186"/>
            <a:ext cx="101600" cy="457200"/>
          </a:xfrm>
          <a:prstGeom prst="roundRect">
            <a:avLst/>
          </a:prstGeom>
          <a:solidFill>
            <a:srgbClr val="7A58C1"/>
          </a:solidFill>
          <a:ln w="25400" cap="flat" cmpd="sng" algn="ctr">
            <a:solidFill>
              <a:srgbClr val="7A58C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Card Text 4">
            <a:extLst>
              <a:ext uri="{FF2B5EF4-FFF2-40B4-BE49-F238E27FC236}">
                <a16:creationId xmlns:a16="http://schemas.microsoft.com/office/drawing/2014/main" id="{076A8B70-9421-40EB-981E-FDC7A473F495}"/>
              </a:ext>
            </a:extLst>
          </p:cNvPr>
          <p:cNvSpPr txBox="1"/>
          <p:nvPr/>
        </p:nvSpPr>
        <p:spPr>
          <a:xfrm>
            <a:off x="3721810" y="5137150"/>
            <a:ext cx="2501190" cy="67710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163A70"/>
                </a:solidFill>
                <a:latin typeface="Arial"/>
                <a:cs typeface="Arial"/>
              </a:rPr>
              <a:t>Always expanding</a:t>
            </a:r>
            <a:endParaRPr lang="en-US" sz="1600">
              <a:solidFill>
                <a:srgbClr val="334155"/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rgbClr val="334155"/>
                </a:solidFill>
                <a:latin typeface="Arial"/>
                <a:cs typeface="Arial"/>
              </a:rPr>
              <a:t>New topics are added regularly to keep teams current.</a:t>
            </a:r>
          </a:p>
        </p:txBody>
      </p:sp>
      <p:sp>
        <p:nvSpPr>
          <p:cNvPr id="30" name="Modern Footer">
            <a:extLst>
              <a:ext uri="{FF2B5EF4-FFF2-40B4-BE49-F238E27FC236}">
                <a16:creationId xmlns:a16="http://schemas.microsoft.com/office/drawing/2014/main" id="{D78287F8-C299-40D2-8684-9E85A1DE9B78}"/>
              </a:ext>
            </a:extLst>
          </p:cNvPr>
          <p:cNvSpPr txBox="1"/>
          <p:nvPr/>
        </p:nvSpPr>
        <p:spPr>
          <a:xfrm>
            <a:off x="457200" y="6452839"/>
            <a:ext cx="6350000" cy="1692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5B6B7A"/>
                </a:solidFill>
                <a:latin typeface="Arial"/>
                <a:cs typeface="Arial"/>
              </a:rPr>
              <a:t>Browse the full course list at </a:t>
            </a:r>
            <a:r>
              <a:rPr lang="en-US" sz="1100">
                <a:solidFill>
                  <a:srgbClr val="5B6B7A"/>
                </a:solidFill>
                <a:latin typeface="Arial"/>
                <a:cs typeface="Arial"/>
                <a:hlinkClick r:id="rId3"/>
              </a:rPr>
              <a:t>matlabacademy.mathworks.com</a:t>
            </a:r>
            <a:endParaRPr lang="en-US" sz="1100">
              <a:solidFill>
                <a:srgbClr val="5B6B7A"/>
              </a:solidFill>
              <a:latin typeface="Arial"/>
              <a:cs typeface="Arial"/>
            </a:endParaRPr>
          </a:p>
        </p:txBody>
      </p:sp>
      <p:sp>
        <p:nvSpPr>
          <p:cNvPr id="29" name="Preview Label">
            <a:extLst>
              <a:ext uri="{FF2B5EF4-FFF2-40B4-BE49-F238E27FC236}">
                <a16:creationId xmlns:a16="http://schemas.microsoft.com/office/drawing/2014/main" id="{54A475EB-95D1-4767-8F09-3A94A2E3D15D}"/>
              </a:ext>
            </a:extLst>
          </p:cNvPr>
          <p:cNvSpPr txBox="1"/>
          <p:nvPr/>
        </p:nvSpPr>
        <p:spPr>
          <a:xfrm>
            <a:off x="7654927" y="1462559"/>
            <a:ext cx="3175000" cy="27699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163A70"/>
                </a:solidFill>
                <a:latin typeface="Arial"/>
                <a:cs typeface="Arial"/>
              </a:rPr>
              <a:t>Training Catalog Preview</a:t>
            </a:r>
          </a:p>
        </p:txBody>
      </p:sp>
      <p:sp>
        <p:nvSpPr>
          <p:cNvPr id="3" name="Card 5">
            <a:extLst>
              <a:ext uri="{FF2B5EF4-FFF2-40B4-BE49-F238E27FC236}">
                <a16:creationId xmlns:a16="http://schemas.microsoft.com/office/drawing/2014/main" id="{BAB142F3-B37E-49AC-983E-15AF48B6AE37}"/>
              </a:ext>
            </a:extLst>
          </p:cNvPr>
          <p:cNvSpPr/>
          <p:nvPr/>
        </p:nvSpPr>
        <p:spPr>
          <a:xfrm>
            <a:off x="424738" y="3662865"/>
            <a:ext cx="5913090" cy="1097609"/>
          </a:xfrm>
          <a:prstGeom prst="roundRect">
            <a:avLst/>
          </a:prstGeom>
          <a:solidFill>
            <a:srgbClr val="F6F8FB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rd Accent 5">
            <a:extLst>
              <a:ext uri="{FF2B5EF4-FFF2-40B4-BE49-F238E27FC236}">
                <a16:creationId xmlns:a16="http://schemas.microsoft.com/office/drawing/2014/main" id="{BB112250-357F-42EC-9002-5C623EEF0F5A}"/>
              </a:ext>
            </a:extLst>
          </p:cNvPr>
          <p:cNvSpPr/>
          <p:nvPr/>
        </p:nvSpPr>
        <p:spPr>
          <a:xfrm>
            <a:off x="372106" y="3977528"/>
            <a:ext cx="101600" cy="457200"/>
          </a:xfrm>
          <a:prstGeom prst="roundRect">
            <a:avLst/>
          </a:prstGeom>
          <a:solidFill>
            <a:srgbClr val="2F80ED"/>
          </a:solidFill>
          <a:ln w="6350" cap="flat" cmpd="sng" algn="ctr">
            <a:solidFill>
              <a:srgbClr val="2F80E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ard Text 5">
            <a:extLst>
              <a:ext uri="{FF2B5EF4-FFF2-40B4-BE49-F238E27FC236}">
                <a16:creationId xmlns:a16="http://schemas.microsoft.com/office/drawing/2014/main" id="{03EC1685-33ED-4D69-AA5A-AEE47B0277F4}"/>
              </a:ext>
            </a:extLst>
          </p:cNvPr>
          <p:cNvSpPr txBox="1"/>
          <p:nvPr/>
        </p:nvSpPr>
        <p:spPr>
          <a:xfrm>
            <a:off x="638278" y="3847856"/>
            <a:ext cx="5449032" cy="67710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r>
              <a:rPr lang="en-US" sz="1600" b="1">
                <a:solidFill>
                  <a:srgbClr val="0070C0"/>
                </a:solidFill>
                <a:latin typeface="Arial"/>
                <a:cs typeface="Arial"/>
              </a:rPr>
              <a:t>26 Onramps</a:t>
            </a:r>
            <a:endParaRPr lang="en-US" sz="160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1400">
                <a:solidFill>
                  <a:srgbClr val="203040"/>
                </a:solidFill>
                <a:latin typeface="Arial"/>
                <a:cs typeface="Arial"/>
              </a:rPr>
              <a:t>Brief introduction to the tool with hands-on practice. Test drive/trial MATLAB and Simulink. Sometimes a prerequisite for longer courses.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16C4F1-C145-898B-6A63-4158FE7CD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249" y="1996205"/>
            <a:ext cx="4950355" cy="3768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review Footer">
            <a:extLst>
              <a:ext uri="{FF2B5EF4-FFF2-40B4-BE49-F238E27FC236}">
                <a16:creationId xmlns:a16="http://schemas.microsoft.com/office/drawing/2014/main" id="{594FDFA3-306E-E227-0286-80E6C2C8CD8E}"/>
              </a:ext>
            </a:extLst>
          </p:cNvPr>
          <p:cNvSpPr txBox="1"/>
          <p:nvPr/>
        </p:nvSpPr>
        <p:spPr>
          <a:xfrm>
            <a:off x="7337427" y="6113048"/>
            <a:ext cx="381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>
                <a:solidFill>
                  <a:srgbClr val="5B6B7A"/>
                </a:solidFill>
                <a:latin typeface="Arial"/>
                <a:cs typeface="Arial"/>
              </a:rPr>
              <a:t>Self-paced • Practical • Easy to scale</a:t>
            </a:r>
          </a:p>
        </p:txBody>
      </p:sp>
    </p:spTree>
    <p:extLst>
      <p:ext uri="{BB962C8B-B14F-4D97-AF65-F5344CB8AC3E}">
        <p14:creationId xmlns:p14="http://schemas.microsoft.com/office/powerpoint/2010/main" val="226208654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AE11-7545-8E6F-39C1-E401BC71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2060-DDE0-DC2F-A07B-5D2AA67F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31" y="450743"/>
            <a:ext cx="6831620" cy="715018"/>
          </a:xfrm>
        </p:spPr>
        <p:txBody>
          <a:bodyPr/>
          <a:lstStyle/>
          <a:p>
            <a:r>
              <a:rPr lang="en-US">
                <a:solidFill>
                  <a:srgbClr val="0076A8"/>
                </a:solidFill>
                <a:latin typeface="Arial"/>
                <a:cs typeface="Arial"/>
              </a:rPr>
              <a:t>Learning Path Catalog</a:t>
            </a:r>
            <a:br>
              <a:rPr lang="en-US"/>
            </a:br>
            <a:r>
              <a:rPr lang="en-US" sz="1400">
                <a:latin typeface="Arial"/>
                <a:cs typeface="Arial"/>
                <a:hlinkClick r:id="rId2"/>
              </a:rPr>
              <a:t>Self-Paced Online Courses:  Learning Paths</a:t>
            </a:r>
            <a:endParaRPr lang="en-US" sz="1400">
              <a:solidFill>
                <a:srgbClr val="0076A8"/>
              </a:solidFill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F2D33-D995-22EE-479D-152DC9B5C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31" y="455132"/>
            <a:ext cx="1600200" cy="847165"/>
          </a:xfrm>
          <a:prstGeom prst="rect">
            <a:avLst/>
          </a:prstGeom>
        </p:spPr>
      </p:pic>
      <p:sp>
        <p:nvSpPr>
          <p:cNvPr id="3" name="Screenshot Frame">
            <a:extLst>
              <a:ext uri="{FF2B5EF4-FFF2-40B4-BE49-F238E27FC236}">
                <a16:creationId xmlns:a16="http://schemas.microsoft.com/office/drawing/2014/main" id="{C35265A9-5B11-ED47-B998-0321F1F08C76}"/>
              </a:ext>
            </a:extLst>
          </p:cNvPr>
          <p:cNvSpPr/>
          <p:nvPr/>
        </p:nvSpPr>
        <p:spPr>
          <a:xfrm>
            <a:off x="452131" y="1504673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44AFC-DC31-0090-B6C1-8306D263B937}"/>
              </a:ext>
            </a:extLst>
          </p:cNvPr>
          <p:cNvSpPr txBox="1"/>
          <p:nvPr/>
        </p:nvSpPr>
        <p:spPr>
          <a:xfrm>
            <a:off x="1101513" y="1602245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Advanced MATLAB Programming Skills</a:t>
            </a:r>
          </a:p>
        </p:txBody>
      </p:sp>
      <p:sp>
        <p:nvSpPr>
          <p:cNvPr id="9" name="Screenshot Frame">
            <a:extLst>
              <a:ext uri="{FF2B5EF4-FFF2-40B4-BE49-F238E27FC236}">
                <a16:creationId xmlns:a16="http://schemas.microsoft.com/office/drawing/2014/main" id="{E4DB376C-4EA2-E832-26ED-489997A600B0}"/>
              </a:ext>
            </a:extLst>
          </p:cNvPr>
          <p:cNvSpPr/>
          <p:nvPr/>
        </p:nvSpPr>
        <p:spPr>
          <a:xfrm>
            <a:off x="452131" y="2095306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Screenshot Frame">
            <a:extLst>
              <a:ext uri="{FF2B5EF4-FFF2-40B4-BE49-F238E27FC236}">
                <a16:creationId xmlns:a16="http://schemas.microsoft.com/office/drawing/2014/main" id="{27149A0B-B29A-CF79-43E4-D29B114B0298}"/>
              </a:ext>
            </a:extLst>
          </p:cNvPr>
          <p:cNvSpPr/>
          <p:nvPr/>
        </p:nvSpPr>
        <p:spPr>
          <a:xfrm>
            <a:off x="452131" y="3276572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Screenshot Frame">
            <a:extLst>
              <a:ext uri="{FF2B5EF4-FFF2-40B4-BE49-F238E27FC236}">
                <a16:creationId xmlns:a16="http://schemas.microsoft.com/office/drawing/2014/main" id="{CDE15DB6-3446-4168-9E74-2E42DA56437F}"/>
              </a:ext>
            </a:extLst>
          </p:cNvPr>
          <p:cNvSpPr/>
          <p:nvPr/>
        </p:nvSpPr>
        <p:spPr>
          <a:xfrm>
            <a:off x="452131" y="3867205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creenshot Frame">
            <a:extLst>
              <a:ext uri="{FF2B5EF4-FFF2-40B4-BE49-F238E27FC236}">
                <a16:creationId xmlns:a16="http://schemas.microsoft.com/office/drawing/2014/main" id="{6D6EA357-2B1E-09EA-E72F-25E9C2FC45BD}"/>
              </a:ext>
            </a:extLst>
          </p:cNvPr>
          <p:cNvSpPr/>
          <p:nvPr/>
        </p:nvSpPr>
        <p:spPr>
          <a:xfrm>
            <a:off x="452131" y="4457838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creenshot Frame">
            <a:extLst>
              <a:ext uri="{FF2B5EF4-FFF2-40B4-BE49-F238E27FC236}">
                <a16:creationId xmlns:a16="http://schemas.microsoft.com/office/drawing/2014/main" id="{18324DE0-1664-D483-F43C-680549A8E017}"/>
              </a:ext>
            </a:extLst>
          </p:cNvPr>
          <p:cNvSpPr/>
          <p:nvPr/>
        </p:nvSpPr>
        <p:spPr>
          <a:xfrm>
            <a:off x="452131" y="5048471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Screenshot Frame">
            <a:extLst>
              <a:ext uri="{FF2B5EF4-FFF2-40B4-BE49-F238E27FC236}">
                <a16:creationId xmlns:a16="http://schemas.microsoft.com/office/drawing/2014/main" id="{44D4FC14-A96E-957B-0539-846FD37A3F58}"/>
              </a:ext>
            </a:extLst>
          </p:cNvPr>
          <p:cNvSpPr/>
          <p:nvPr/>
        </p:nvSpPr>
        <p:spPr>
          <a:xfrm>
            <a:off x="452131" y="5639104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Screenshot Frame">
            <a:extLst>
              <a:ext uri="{FF2B5EF4-FFF2-40B4-BE49-F238E27FC236}">
                <a16:creationId xmlns:a16="http://schemas.microsoft.com/office/drawing/2014/main" id="{102B7CB5-9158-88CE-0551-73E522EE0749}"/>
              </a:ext>
            </a:extLst>
          </p:cNvPr>
          <p:cNvSpPr/>
          <p:nvPr/>
        </p:nvSpPr>
        <p:spPr>
          <a:xfrm>
            <a:off x="452131" y="6261543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Screenshot Frame">
            <a:extLst>
              <a:ext uri="{FF2B5EF4-FFF2-40B4-BE49-F238E27FC236}">
                <a16:creationId xmlns:a16="http://schemas.microsoft.com/office/drawing/2014/main" id="{ED0BC2D1-4994-C990-E9B7-950776FB82D0}"/>
              </a:ext>
            </a:extLst>
          </p:cNvPr>
          <p:cNvSpPr/>
          <p:nvPr/>
        </p:nvSpPr>
        <p:spPr>
          <a:xfrm>
            <a:off x="6096000" y="1504673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Screenshot Frame">
            <a:extLst>
              <a:ext uri="{FF2B5EF4-FFF2-40B4-BE49-F238E27FC236}">
                <a16:creationId xmlns:a16="http://schemas.microsoft.com/office/drawing/2014/main" id="{83051CD9-3BC3-BD00-F22B-62565B1F3655}"/>
              </a:ext>
            </a:extLst>
          </p:cNvPr>
          <p:cNvSpPr/>
          <p:nvPr/>
        </p:nvSpPr>
        <p:spPr>
          <a:xfrm>
            <a:off x="6096000" y="2095306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Screenshot Frame">
            <a:extLst>
              <a:ext uri="{FF2B5EF4-FFF2-40B4-BE49-F238E27FC236}">
                <a16:creationId xmlns:a16="http://schemas.microsoft.com/office/drawing/2014/main" id="{5BCF9479-F7E6-EEC0-BCF4-C289B9BFC82C}"/>
              </a:ext>
            </a:extLst>
          </p:cNvPr>
          <p:cNvSpPr/>
          <p:nvPr/>
        </p:nvSpPr>
        <p:spPr>
          <a:xfrm>
            <a:off x="6096000" y="3276572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Screenshot Frame">
            <a:extLst>
              <a:ext uri="{FF2B5EF4-FFF2-40B4-BE49-F238E27FC236}">
                <a16:creationId xmlns:a16="http://schemas.microsoft.com/office/drawing/2014/main" id="{2A5CFF9B-3153-2156-C070-F24F5C9BE139}"/>
              </a:ext>
            </a:extLst>
          </p:cNvPr>
          <p:cNvSpPr/>
          <p:nvPr/>
        </p:nvSpPr>
        <p:spPr>
          <a:xfrm>
            <a:off x="6096000" y="3867205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Screenshot Frame">
            <a:extLst>
              <a:ext uri="{FF2B5EF4-FFF2-40B4-BE49-F238E27FC236}">
                <a16:creationId xmlns:a16="http://schemas.microsoft.com/office/drawing/2014/main" id="{86170FA8-AB62-5052-7BC4-2D4C878FF575}"/>
              </a:ext>
            </a:extLst>
          </p:cNvPr>
          <p:cNvSpPr/>
          <p:nvPr/>
        </p:nvSpPr>
        <p:spPr>
          <a:xfrm>
            <a:off x="6096000" y="4457838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Screenshot Frame">
            <a:extLst>
              <a:ext uri="{FF2B5EF4-FFF2-40B4-BE49-F238E27FC236}">
                <a16:creationId xmlns:a16="http://schemas.microsoft.com/office/drawing/2014/main" id="{7A00B7D9-B12C-FC27-7AC5-1FF9DD039751}"/>
              </a:ext>
            </a:extLst>
          </p:cNvPr>
          <p:cNvSpPr/>
          <p:nvPr/>
        </p:nvSpPr>
        <p:spPr>
          <a:xfrm>
            <a:off x="6096000" y="5048471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Screenshot Frame">
            <a:extLst>
              <a:ext uri="{FF2B5EF4-FFF2-40B4-BE49-F238E27FC236}">
                <a16:creationId xmlns:a16="http://schemas.microsoft.com/office/drawing/2014/main" id="{B9C34480-D676-A8CC-DA70-633EEDE3A241}"/>
              </a:ext>
            </a:extLst>
          </p:cNvPr>
          <p:cNvSpPr/>
          <p:nvPr/>
        </p:nvSpPr>
        <p:spPr>
          <a:xfrm>
            <a:off x="6096000" y="5639104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Screenshot Frame">
            <a:extLst>
              <a:ext uri="{FF2B5EF4-FFF2-40B4-BE49-F238E27FC236}">
                <a16:creationId xmlns:a16="http://schemas.microsoft.com/office/drawing/2014/main" id="{E8835FB1-DEE9-B029-C174-270D91CD3979}"/>
              </a:ext>
            </a:extLst>
          </p:cNvPr>
          <p:cNvSpPr/>
          <p:nvPr/>
        </p:nvSpPr>
        <p:spPr>
          <a:xfrm>
            <a:off x="6096000" y="6261543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EB33D9-4D12-5586-B3B8-5789AA0F3D45}"/>
              </a:ext>
            </a:extLst>
          </p:cNvPr>
          <p:cNvSpPr txBox="1"/>
          <p:nvPr/>
        </p:nvSpPr>
        <p:spPr>
          <a:xfrm>
            <a:off x="1101513" y="2192878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Build MATLAB Proficiency</a:t>
            </a:r>
          </a:p>
        </p:txBody>
      </p:sp>
      <p:sp>
        <p:nvSpPr>
          <p:cNvPr id="10" name="Screenshot Frame">
            <a:extLst>
              <a:ext uri="{FF2B5EF4-FFF2-40B4-BE49-F238E27FC236}">
                <a16:creationId xmlns:a16="http://schemas.microsoft.com/office/drawing/2014/main" id="{B8045025-415E-9C18-6296-AC141843E91A}"/>
              </a:ext>
            </a:extLst>
          </p:cNvPr>
          <p:cNvSpPr/>
          <p:nvPr/>
        </p:nvSpPr>
        <p:spPr>
          <a:xfrm>
            <a:off x="452131" y="2685939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CC146F-5EE2-5336-DADC-EB8FEBE05B1A}"/>
              </a:ext>
            </a:extLst>
          </p:cNvPr>
          <p:cNvSpPr txBox="1"/>
          <p:nvPr/>
        </p:nvSpPr>
        <p:spPr>
          <a:xfrm>
            <a:off x="1101513" y="2783511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Build Simulink Proficiency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2E7552-407E-BF07-E170-3EDED2AC876E}"/>
              </a:ext>
            </a:extLst>
          </p:cNvPr>
          <p:cNvSpPr txBox="1"/>
          <p:nvPr/>
        </p:nvSpPr>
        <p:spPr>
          <a:xfrm>
            <a:off x="1101513" y="3374574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Control System Design with MATLAB and Simulink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5C3470-A9A0-F2CC-57F8-DD9B46D02AAB}"/>
              </a:ext>
            </a:extLst>
          </p:cNvPr>
          <p:cNvSpPr txBox="1"/>
          <p:nvPr/>
        </p:nvSpPr>
        <p:spPr>
          <a:xfrm>
            <a:off x="1101513" y="3964777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Core MATLAB Skills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990C4F-3851-9733-0B78-A7B041DCBB07}"/>
              </a:ext>
            </a:extLst>
          </p:cNvPr>
          <p:cNvSpPr txBox="1"/>
          <p:nvPr/>
        </p:nvSpPr>
        <p:spPr>
          <a:xfrm>
            <a:off x="6724105" y="1602245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Image Segmentation and Analysis in MATLAB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B130FE-4649-90DD-88EC-F65960FAC5D7}"/>
              </a:ext>
            </a:extLst>
          </p:cNvPr>
          <p:cNvSpPr txBox="1"/>
          <p:nvPr/>
        </p:nvSpPr>
        <p:spPr>
          <a:xfrm>
            <a:off x="1101513" y="4555410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Core Signal Processing Techniques in MATLAB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E2AF10-9EFD-D0F3-2842-B24BF3517910}"/>
              </a:ext>
            </a:extLst>
          </p:cNvPr>
          <p:cNvSpPr txBox="1"/>
          <p:nvPr/>
        </p:nvSpPr>
        <p:spPr>
          <a:xfrm>
            <a:off x="1101513" y="5146043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Data Analysis in MATLAB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F7A84D-8D4B-A26E-ED78-E3399A664863}"/>
              </a:ext>
            </a:extLst>
          </p:cNvPr>
          <p:cNvSpPr txBox="1"/>
          <p:nvPr/>
        </p:nvSpPr>
        <p:spPr>
          <a:xfrm>
            <a:off x="1101513" y="5659649"/>
            <a:ext cx="4809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Deep Learning Techniques in MATLAB for Image Applications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D6E2D7-87AD-F301-C295-1F5682DD290D}"/>
              </a:ext>
            </a:extLst>
          </p:cNvPr>
          <p:cNvSpPr txBox="1"/>
          <p:nvPr/>
        </p:nvSpPr>
        <p:spPr>
          <a:xfrm>
            <a:off x="1101513" y="6359115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Handle Inconsistent and Unstructured Data Files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93DCD0-6485-547E-A9CE-CB636CCCD074}"/>
              </a:ext>
            </a:extLst>
          </p:cNvPr>
          <p:cNvSpPr txBox="1"/>
          <p:nvPr/>
        </p:nvSpPr>
        <p:spPr>
          <a:xfrm>
            <a:off x="6724105" y="4555410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Organize Tabular Data in MATLAB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9D8B55-4CD9-2074-14E6-9AE382AFD733}"/>
              </a:ext>
            </a:extLst>
          </p:cNvPr>
          <p:cNvSpPr txBox="1"/>
          <p:nvPr/>
        </p:nvSpPr>
        <p:spPr>
          <a:xfrm>
            <a:off x="6724105" y="5146043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Programming in MATLAB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F003DA-4B1E-28D5-1F1C-2C277413B848}"/>
              </a:ext>
            </a:extLst>
          </p:cNvPr>
          <p:cNvSpPr txBox="1"/>
          <p:nvPr/>
        </p:nvSpPr>
        <p:spPr>
          <a:xfrm>
            <a:off x="6724105" y="5736676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Software Development in MATLAB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8013B5-A277-D260-F49E-41169019A6B3}"/>
              </a:ext>
            </a:extLst>
          </p:cNvPr>
          <p:cNvSpPr txBox="1"/>
          <p:nvPr/>
        </p:nvSpPr>
        <p:spPr>
          <a:xfrm>
            <a:off x="6724105" y="6359115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Visualization in MATLAB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678534-FA19-1795-A755-5F8F5C23D93B}"/>
              </a:ext>
            </a:extLst>
          </p:cNvPr>
          <p:cNvSpPr txBox="1"/>
          <p:nvPr/>
        </p:nvSpPr>
        <p:spPr>
          <a:xfrm>
            <a:off x="6724105" y="2192878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Machine Learning Techniques in MATLAB</a:t>
            </a:r>
          </a:p>
        </p:txBody>
      </p:sp>
      <p:sp>
        <p:nvSpPr>
          <p:cNvPr id="21" name="Screenshot Frame">
            <a:extLst>
              <a:ext uri="{FF2B5EF4-FFF2-40B4-BE49-F238E27FC236}">
                <a16:creationId xmlns:a16="http://schemas.microsoft.com/office/drawing/2014/main" id="{6E8D2230-707C-5682-486B-505D69D5C9BC}"/>
              </a:ext>
            </a:extLst>
          </p:cNvPr>
          <p:cNvSpPr/>
          <p:nvPr/>
        </p:nvSpPr>
        <p:spPr>
          <a:xfrm>
            <a:off x="6096000" y="2685939"/>
            <a:ext cx="5486400" cy="502920"/>
          </a:xfrm>
          <a:prstGeom prst="roundRect">
            <a:avLst/>
          </a:prstGeom>
          <a:solidFill>
            <a:srgbClr val="F8FAFC"/>
          </a:solidFill>
          <a:ln w="19050" cap="flat" cmpd="sng" algn="ctr">
            <a:solidFill>
              <a:srgbClr val="D9E2E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18F78D-D994-9C8B-BF6C-49F9C6F0E249}"/>
              </a:ext>
            </a:extLst>
          </p:cNvPr>
          <p:cNvSpPr txBox="1"/>
          <p:nvPr/>
        </p:nvSpPr>
        <p:spPr>
          <a:xfrm>
            <a:off x="6724105" y="2685939"/>
            <a:ext cx="4809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MATLAB for the MathWorks Certified MATLAB Associate Exam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4314BF-AFBF-4EE4-5278-083B205777E9}"/>
              </a:ext>
            </a:extLst>
          </p:cNvPr>
          <p:cNvSpPr txBox="1"/>
          <p:nvPr/>
        </p:nvSpPr>
        <p:spPr>
          <a:xfrm>
            <a:off x="6724105" y="3374144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MATLAB Skills for Simulink Modeling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6AD2D4-B1FA-A366-64E8-0FFF4971861F}"/>
              </a:ext>
            </a:extLst>
          </p:cNvPr>
          <p:cNvSpPr txBox="1"/>
          <p:nvPr/>
        </p:nvSpPr>
        <p:spPr>
          <a:xfrm>
            <a:off x="6724105" y="3964777"/>
            <a:ext cx="4809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400">
                <a:solidFill>
                  <a:srgbClr val="41576D"/>
                </a:solidFill>
                <a:cs typeface="Arial"/>
              </a:rPr>
              <a:t>Motor Control Algorithms with Simulink and </a:t>
            </a:r>
            <a:r>
              <a:rPr lang="en-US" sz="1400" err="1">
                <a:solidFill>
                  <a:srgbClr val="41576D"/>
                </a:solidFill>
                <a:cs typeface="Arial"/>
              </a:rPr>
              <a:t>Simscape</a:t>
            </a:r>
            <a:endParaRPr lang="en-US" sz="1400">
              <a:solidFill>
                <a:srgbClr val="41576D"/>
              </a:solidFill>
              <a:cs typeface="Arial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77B72A06-A640-1652-5C80-D3CB25F20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6" y="1611747"/>
            <a:ext cx="545459" cy="28877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54E4C0B-0DF8-E19E-FAE2-3DE5BE63A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36" y="2200462"/>
            <a:ext cx="549901" cy="29260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E08DD2A-E44E-F3C5-6394-D693F3164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6" y="4564912"/>
            <a:ext cx="545459" cy="28877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43E6A5E-4BDA-C5F1-8C69-D2607C1C7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36" y="5153627"/>
            <a:ext cx="552704" cy="292608"/>
          </a:xfrm>
          <a:prstGeom prst="rect">
            <a:avLst/>
          </a:prstGeom>
        </p:spPr>
      </p:pic>
      <p:pic>
        <p:nvPicPr>
          <p:cNvPr id="72" name="Picture 71" descr="A blue and white logo&#10;&#10;Description automatically generated">
            <a:extLst>
              <a:ext uri="{FF2B5EF4-FFF2-40B4-BE49-F238E27FC236}">
                <a16:creationId xmlns:a16="http://schemas.microsoft.com/office/drawing/2014/main" id="{9167955F-7C88-9D6D-09B0-6380942135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36" y="3382158"/>
            <a:ext cx="552704" cy="292608"/>
          </a:xfrm>
          <a:prstGeom prst="rect">
            <a:avLst/>
          </a:prstGeom>
        </p:spPr>
      </p:pic>
      <p:pic>
        <p:nvPicPr>
          <p:cNvPr id="73" name="Picture 72" descr="A blue and white logo&#10;&#10;Description automatically generated">
            <a:extLst>
              <a:ext uri="{FF2B5EF4-FFF2-40B4-BE49-F238E27FC236}">
                <a16:creationId xmlns:a16="http://schemas.microsoft.com/office/drawing/2014/main" id="{3A88D31E-D14B-936F-E198-FB525122CD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36" y="5774955"/>
            <a:ext cx="552704" cy="29260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3060A45-67AA-E005-C5FF-59E61F9712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36" y="2791095"/>
            <a:ext cx="552704" cy="29260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49C9A357-B7C5-FC9B-DF82-BB89510D1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36" y="3972361"/>
            <a:ext cx="552704" cy="29260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1FCDFA2-A81D-1769-5EEE-0E167E6FD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36" y="6366699"/>
            <a:ext cx="552704" cy="29260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C4B9767-98DF-D31B-F82B-FEDCABE0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869" y="1609829"/>
            <a:ext cx="549901" cy="29260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1B5C62C-25A1-D097-773A-77EE5E7C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869" y="5744260"/>
            <a:ext cx="549901" cy="292608"/>
          </a:xfrm>
          <a:prstGeom prst="rect">
            <a:avLst/>
          </a:prstGeom>
        </p:spPr>
      </p:pic>
      <p:pic>
        <p:nvPicPr>
          <p:cNvPr id="79" name="Picture 78" descr="A blue and white logo&#10;&#10;Description automatically generated">
            <a:extLst>
              <a:ext uri="{FF2B5EF4-FFF2-40B4-BE49-F238E27FC236}">
                <a16:creationId xmlns:a16="http://schemas.microsoft.com/office/drawing/2014/main" id="{81B24F08-7A90-795E-8EE2-578719F6DA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9" y="3972361"/>
            <a:ext cx="552704" cy="292608"/>
          </a:xfrm>
          <a:prstGeom prst="rect">
            <a:avLst/>
          </a:prstGeom>
        </p:spPr>
      </p:pic>
      <p:pic>
        <p:nvPicPr>
          <p:cNvPr id="80" name="Picture 79" descr="A blue and white logo&#10;&#10;Description automatically generated">
            <a:extLst>
              <a:ext uri="{FF2B5EF4-FFF2-40B4-BE49-F238E27FC236}">
                <a16:creationId xmlns:a16="http://schemas.microsoft.com/office/drawing/2014/main" id="{71315BDC-F1C9-F7AB-947F-87B49256EB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9" y="5153627"/>
            <a:ext cx="552704" cy="292608"/>
          </a:xfrm>
          <a:prstGeom prst="rect">
            <a:avLst/>
          </a:prstGeom>
        </p:spPr>
      </p:pic>
      <p:pic>
        <p:nvPicPr>
          <p:cNvPr id="81" name="Picture 80" descr="A white road with a pin on it&#10;&#10;Description automatically generated">
            <a:extLst>
              <a:ext uri="{FF2B5EF4-FFF2-40B4-BE49-F238E27FC236}">
                <a16:creationId xmlns:a16="http://schemas.microsoft.com/office/drawing/2014/main" id="{3E67D5C3-95F7-1669-CC60-7B82FF3214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9" y="2200462"/>
            <a:ext cx="552704" cy="292608"/>
          </a:xfrm>
          <a:prstGeom prst="rect">
            <a:avLst/>
          </a:prstGeom>
        </p:spPr>
      </p:pic>
      <p:pic>
        <p:nvPicPr>
          <p:cNvPr id="82" name="Picture 81" descr="A white road with a pin on it&#10;&#10;Description automatically generated">
            <a:extLst>
              <a:ext uri="{FF2B5EF4-FFF2-40B4-BE49-F238E27FC236}">
                <a16:creationId xmlns:a16="http://schemas.microsoft.com/office/drawing/2014/main" id="{B1A05636-91EE-B986-D6C6-D8FA0BD3E6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9" y="3381728"/>
            <a:ext cx="552704" cy="292608"/>
          </a:xfrm>
          <a:prstGeom prst="rect">
            <a:avLst/>
          </a:prstGeom>
        </p:spPr>
      </p:pic>
      <p:pic>
        <p:nvPicPr>
          <p:cNvPr id="83" name="Picture 82" descr="A white road with a pin on it&#10;&#10;Description automatically generated">
            <a:extLst>
              <a:ext uri="{FF2B5EF4-FFF2-40B4-BE49-F238E27FC236}">
                <a16:creationId xmlns:a16="http://schemas.microsoft.com/office/drawing/2014/main" id="{4FC927EE-131A-8E14-B582-959E2ECA71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869" y="6366699"/>
            <a:ext cx="552704" cy="292608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BEB5F5E-8E77-44FA-A7D5-3B8FA0F2F2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869" y="2801245"/>
            <a:ext cx="552704" cy="2926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F791C2C-53A1-E868-F9C7-FCFF1F82A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869" y="4562994"/>
            <a:ext cx="552704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7126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E754-24EA-B804-63BC-21BE0CBD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5C6571-9D60-7E4F-0B0E-DF4C003026EC}"/>
              </a:ext>
            </a:extLst>
          </p:cNvPr>
          <p:cNvSpPr/>
          <p:nvPr/>
        </p:nvSpPr>
        <p:spPr>
          <a:xfrm>
            <a:off x="1997475" y="6147317"/>
            <a:ext cx="1704512" cy="230818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Calculus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BA085-F9CC-7367-B5D1-F7A4FD7AB1A6}"/>
              </a:ext>
            </a:extLst>
          </p:cNvPr>
          <p:cNvSpPr/>
          <p:nvPr/>
        </p:nvSpPr>
        <p:spPr>
          <a:xfrm>
            <a:off x="1997475" y="5740424"/>
            <a:ext cx="1704512" cy="230818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Linear Algebra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E138B-B1F4-BB44-3261-1C4226EC769C}"/>
              </a:ext>
            </a:extLst>
          </p:cNvPr>
          <p:cNvSpPr/>
          <p:nvPr/>
        </p:nvSpPr>
        <p:spPr>
          <a:xfrm>
            <a:off x="1997475" y="5333531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Physics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7EAFA4-FDF9-CFFC-7C82-7F53125DF11F}"/>
              </a:ext>
            </a:extLst>
          </p:cNvPr>
          <p:cNvSpPr/>
          <p:nvPr/>
        </p:nvSpPr>
        <p:spPr>
          <a:xfrm>
            <a:off x="4076329" y="6147317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Signal Pro.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AD855-1D33-96B4-7C98-48DDAE7F8D20}"/>
              </a:ext>
            </a:extLst>
          </p:cNvPr>
          <p:cNvSpPr/>
          <p:nvPr/>
        </p:nvSpPr>
        <p:spPr>
          <a:xfrm>
            <a:off x="4068195" y="5335480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Circuit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8EF47-ABDB-C81C-1D0B-9A40941D6572}"/>
              </a:ext>
            </a:extLst>
          </p:cNvPr>
          <p:cNvSpPr/>
          <p:nvPr/>
        </p:nvSpPr>
        <p:spPr>
          <a:xfrm>
            <a:off x="4074117" y="5748766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Digital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82A0E-D0B5-96FD-2095-B95F02BB0DA7}"/>
              </a:ext>
            </a:extLst>
          </p:cNvPr>
          <p:cNvSpPr/>
          <p:nvPr/>
        </p:nvSpPr>
        <p:spPr>
          <a:xfrm>
            <a:off x="6144235" y="5316422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Microelectronics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8371E1-8748-C213-72AD-0C8AA5498628}"/>
              </a:ext>
            </a:extLst>
          </p:cNvPr>
          <p:cNvSpPr/>
          <p:nvPr/>
        </p:nvSpPr>
        <p:spPr>
          <a:xfrm>
            <a:off x="6144235" y="6145368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Measure &amp; Circuit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94DF0B-C230-4D6C-D3DE-994BBC8DFE90}"/>
              </a:ext>
            </a:extLst>
          </p:cNvPr>
          <p:cNvSpPr/>
          <p:nvPr/>
        </p:nvSpPr>
        <p:spPr>
          <a:xfrm>
            <a:off x="6153696" y="4926638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Electromagnetics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F7447-6E3F-63EC-7570-CCF136C75971}"/>
              </a:ext>
            </a:extLst>
          </p:cNvPr>
          <p:cNvSpPr/>
          <p:nvPr/>
        </p:nvSpPr>
        <p:spPr>
          <a:xfrm>
            <a:off x="8234037" y="6147317"/>
            <a:ext cx="1704512" cy="2308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Senior Design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EBA5F-7CBF-8761-639D-CCB7ABB51FD9}"/>
              </a:ext>
            </a:extLst>
          </p:cNvPr>
          <p:cNvSpPr/>
          <p:nvPr/>
        </p:nvSpPr>
        <p:spPr>
          <a:xfrm>
            <a:off x="8231063" y="452418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30EC6-61CD-F674-EF7A-4639D83CCA13}"/>
              </a:ext>
            </a:extLst>
          </p:cNvPr>
          <p:cNvSpPr/>
          <p:nvPr/>
        </p:nvSpPr>
        <p:spPr>
          <a:xfrm>
            <a:off x="8243064" y="1700229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Microwave App.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7B2F98-8B86-B96B-5C81-8CDF39D876E6}"/>
              </a:ext>
            </a:extLst>
          </p:cNvPr>
          <p:cNvSpPr/>
          <p:nvPr/>
        </p:nvSpPr>
        <p:spPr>
          <a:xfrm>
            <a:off x="6144235" y="574042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Signals &amp; Sys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B6B24-F812-DE99-0D00-E805277869D0}"/>
              </a:ext>
            </a:extLst>
          </p:cNvPr>
          <p:cNvSpPr/>
          <p:nvPr/>
        </p:nvSpPr>
        <p:spPr>
          <a:xfrm>
            <a:off x="6155183" y="4519745"/>
            <a:ext cx="1704512" cy="230818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Engineering Stats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577E25-2771-F25D-A24F-75CC3E4B156E}"/>
              </a:ext>
            </a:extLst>
          </p:cNvPr>
          <p:cNvSpPr/>
          <p:nvPr/>
        </p:nvSpPr>
        <p:spPr>
          <a:xfrm>
            <a:off x="6155183" y="4112852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Energy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43D79C-73BB-3832-1A0D-4F4A09CCA013}"/>
              </a:ext>
            </a:extLst>
          </p:cNvPr>
          <p:cNvSpPr/>
          <p:nvPr/>
        </p:nvSpPr>
        <p:spPr>
          <a:xfrm>
            <a:off x="4076329" y="4926638"/>
            <a:ext cx="1704512" cy="2308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Hardware Sys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18041F-0524-8346-BE92-CF1014503C56}"/>
              </a:ext>
            </a:extLst>
          </p:cNvPr>
          <p:cNvSpPr/>
          <p:nvPr/>
        </p:nvSpPr>
        <p:spPr>
          <a:xfrm>
            <a:off x="8231063" y="574042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Antenna Eng.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8E4ECA-2A42-07A0-F43B-E6E93C0F73DF}"/>
              </a:ext>
            </a:extLst>
          </p:cNvPr>
          <p:cNvSpPr/>
          <p:nvPr/>
        </p:nvSpPr>
        <p:spPr>
          <a:xfrm>
            <a:off x="6181137" y="3298209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RF Design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90025-B3AE-AA0F-CE5E-7213C4127282}"/>
              </a:ext>
            </a:extLst>
          </p:cNvPr>
          <p:cNvSpPr/>
          <p:nvPr/>
        </p:nvSpPr>
        <p:spPr>
          <a:xfrm>
            <a:off x="8231063" y="5337970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Digital/Analog Cir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0F1080-5CC8-EF53-987E-67F732D93DD3}"/>
              </a:ext>
            </a:extLst>
          </p:cNvPr>
          <p:cNvSpPr/>
          <p:nvPr/>
        </p:nvSpPr>
        <p:spPr>
          <a:xfrm>
            <a:off x="8234037" y="3316967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Optical Eng.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1475ED-A3BE-90FC-AEEC-ABDFD378CD07}"/>
              </a:ext>
            </a:extLst>
          </p:cNvPr>
          <p:cNvSpPr/>
          <p:nvPr/>
        </p:nvSpPr>
        <p:spPr>
          <a:xfrm>
            <a:off x="8234037" y="291007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Laser Theory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83B554-D255-820A-3C41-D428D0370083}"/>
              </a:ext>
            </a:extLst>
          </p:cNvPr>
          <p:cNvSpPr/>
          <p:nvPr/>
        </p:nvSpPr>
        <p:spPr>
          <a:xfrm>
            <a:off x="6155183" y="3741909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 Foundation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A57F20-C81A-2026-E0CD-FF6A1BC2090A}"/>
              </a:ext>
            </a:extLst>
          </p:cNvPr>
          <p:cNvSpPr/>
          <p:nvPr/>
        </p:nvSpPr>
        <p:spPr>
          <a:xfrm>
            <a:off x="6153696" y="1310760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ML/DL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68F70F-AF5F-7B59-1EB1-90108A54AF69}"/>
              </a:ext>
            </a:extLst>
          </p:cNvPr>
          <p:cNvSpPr/>
          <p:nvPr/>
        </p:nvSpPr>
        <p:spPr>
          <a:xfrm>
            <a:off x="8234199" y="4114665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Power Electronic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051010-5876-F574-2B44-06F6DD5BBFD4}"/>
              </a:ext>
            </a:extLst>
          </p:cNvPr>
          <p:cNvSpPr/>
          <p:nvPr/>
        </p:nvSpPr>
        <p:spPr>
          <a:xfrm>
            <a:off x="8234037" y="2521157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MEMS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794C38-59B5-DB5A-1474-0B026B45FBE5}"/>
              </a:ext>
            </a:extLst>
          </p:cNvPr>
          <p:cNvSpPr/>
          <p:nvPr/>
        </p:nvSpPr>
        <p:spPr>
          <a:xfrm>
            <a:off x="8231063" y="4931077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Robotics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778525-1B0A-6D39-D468-0929CD548BC5}"/>
              </a:ext>
            </a:extLst>
          </p:cNvPr>
          <p:cNvSpPr/>
          <p:nvPr/>
        </p:nvSpPr>
        <p:spPr>
          <a:xfrm>
            <a:off x="8243064" y="210193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Computer Vision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0EC4D9-FF5E-7F91-19E6-94A237A86C52}"/>
              </a:ext>
            </a:extLst>
          </p:cNvPr>
          <p:cNvSpPr/>
          <p:nvPr/>
        </p:nvSpPr>
        <p:spPr>
          <a:xfrm>
            <a:off x="8234037" y="1318379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Cryptography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876B72-E255-352B-7F33-EB569A4D6373}"/>
              </a:ext>
            </a:extLst>
          </p:cNvPr>
          <p:cNvSpPr/>
          <p:nvPr/>
        </p:nvSpPr>
        <p:spPr>
          <a:xfrm>
            <a:off x="6155183" y="2521157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Comm. Systems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5325E9-7EFB-6C5F-5ADB-7A527E1982CB}"/>
              </a:ext>
            </a:extLst>
          </p:cNvPr>
          <p:cNvSpPr/>
          <p:nvPr/>
        </p:nvSpPr>
        <p:spPr>
          <a:xfrm>
            <a:off x="8231063" y="3736190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Embedded Sys.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2629B5-8A26-03E8-5F09-621CA5AF6056}"/>
              </a:ext>
            </a:extLst>
          </p:cNvPr>
          <p:cNvSpPr/>
          <p:nvPr/>
        </p:nvSpPr>
        <p:spPr>
          <a:xfrm>
            <a:off x="6153696" y="2107195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Wireless Comm.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376B2D-C063-FDF0-A795-ADCC507FA8F2}"/>
              </a:ext>
            </a:extLst>
          </p:cNvPr>
          <p:cNvSpPr/>
          <p:nvPr/>
        </p:nvSpPr>
        <p:spPr>
          <a:xfrm>
            <a:off x="6153696" y="1700229"/>
            <a:ext cx="1704512" cy="2308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VLSI Digital Des.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81C940-C97C-7CC8-3343-925498FF5F16}"/>
              </a:ext>
            </a:extLst>
          </p:cNvPr>
          <p:cNvCxnSpPr>
            <a:cxnSpLocks/>
          </p:cNvCxnSpPr>
          <p:nvPr/>
        </p:nvCxnSpPr>
        <p:spPr>
          <a:xfrm>
            <a:off x="6027938" y="1154097"/>
            <a:ext cx="1" cy="2503503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ED5D53-A1A7-E809-CDF5-E222ACA61062}"/>
              </a:ext>
            </a:extLst>
          </p:cNvPr>
          <p:cNvCxnSpPr>
            <a:cxnSpLocks/>
          </p:cNvCxnSpPr>
          <p:nvPr/>
        </p:nvCxnSpPr>
        <p:spPr>
          <a:xfrm flipH="1">
            <a:off x="10064310" y="1154970"/>
            <a:ext cx="1" cy="490108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B6DE75-A79E-DC08-E01E-F5ABE75AF56E}"/>
              </a:ext>
            </a:extLst>
          </p:cNvPr>
          <p:cNvCxnSpPr>
            <a:cxnSpLocks/>
          </p:cNvCxnSpPr>
          <p:nvPr/>
        </p:nvCxnSpPr>
        <p:spPr>
          <a:xfrm flipH="1">
            <a:off x="6027938" y="1154097"/>
            <a:ext cx="4036371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2F9E37-E240-B9A5-18BF-00F4C05088D9}"/>
              </a:ext>
            </a:extLst>
          </p:cNvPr>
          <p:cNvCxnSpPr>
            <a:cxnSpLocks/>
          </p:cNvCxnSpPr>
          <p:nvPr/>
        </p:nvCxnSpPr>
        <p:spPr>
          <a:xfrm flipH="1">
            <a:off x="6027938" y="3657600"/>
            <a:ext cx="2018185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0E36C5B-B3F2-A2B9-8B84-607EBD4DEF3D}"/>
              </a:ext>
            </a:extLst>
          </p:cNvPr>
          <p:cNvCxnSpPr>
            <a:cxnSpLocks/>
          </p:cNvCxnSpPr>
          <p:nvPr/>
        </p:nvCxnSpPr>
        <p:spPr>
          <a:xfrm>
            <a:off x="8046122" y="3648253"/>
            <a:ext cx="0" cy="2416675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68EF3D-C156-148C-F854-C80542CAA938}"/>
              </a:ext>
            </a:extLst>
          </p:cNvPr>
          <p:cNvCxnSpPr>
            <a:cxnSpLocks/>
          </p:cNvCxnSpPr>
          <p:nvPr/>
        </p:nvCxnSpPr>
        <p:spPr>
          <a:xfrm flipH="1">
            <a:off x="8046122" y="6056050"/>
            <a:ext cx="2018185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899A609-B14B-5E29-447B-04B20ED5F1A7}"/>
              </a:ext>
            </a:extLst>
          </p:cNvPr>
          <p:cNvSpPr txBox="1"/>
          <p:nvPr/>
        </p:nvSpPr>
        <p:spPr>
          <a:xfrm>
            <a:off x="6636784" y="893558"/>
            <a:ext cx="2821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atin typeface="Arial" pitchFamily="34" charset="0"/>
                <a:cs typeface="Arial" pitchFamily="34" charset="0"/>
              </a:rPr>
              <a:t>Electives shared between years 3&amp;4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1B5F45C-AC4A-8CC4-B482-5FF1B6082B22}"/>
              </a:ext>
            </a:extLst>
          </p:cNvPr>
          <p:cNvCxnSpPr>
            <a:cxnSpLocks/>
          </p:cNvCxnSpPr>
          <p:nvPr/>
        </p:nvCxnSpPr>
        <p:spPr>
          <a:xfrm flipH="1" flipV="1">
            <a:off x="1811047" y="894356"/>
            <a:ext cx="8878" cy="564848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EE4682F-00AB-E76A-E038-A4935B3521F3}"/>
              </a:ext>
            </a:extLst>
          </p:cNvPr>
          <p:cNvCxnSpPr>
            <a:cxnSpLocks/>
          </p:cNvCxnSpPr>
          <p:nvPr/>
        </p:nvCxnSpPr>
        <p:spPr>
          <a:xfrm flipV="1">
            <a:off x="1802169" y="6532088"/>
            <a:ext cx="8806647" cy="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B83502C-81C2-2F0A-0B4B-3A4928386449}"/>
              </a:ext>
            </a:extLst>
          </p:cNvPr>
          <p:cNvSpPr/>
          <p:nvPr/>
        </p:nvSpPr>
        <p:spPr>
          <a:xfrm>
            <a:off x="1864311" y="2544514"/>
            <a:ext cx="8211844" cy="1867688"/>
          </a:xfrm>
          <a:custGeom>
            <a:avLst/>
            <a:gdLst>
              <a:gd name="connsiteX0" fmla="*/ 0 w 8211844"/>
              <a:gd name="connsiteY0" fmla="*/ 1867688 h 1867688"/>
              <a:gd name="connsiteX1" fmla="*/ 2450237 w 8211844"/>
              <a:gd name="connsiteY1" fmla="*/ 47766 h 1867688"/>
              <a:gd name="connsiteX2" fmla="*/ 8211844 w 8211844"/>
              <a:gd name="connsiteY2" fmla="*/ 518282 h 186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1844" h="1867688">
                <a:moveTo>
                  <a:pt x="0" y="1867688"/>
                </a:moveTo>
                <a:cubicBezTo>
                  <a:pt x="540798" y="1070177"/>
                  <a:pt x="1081596" y="272667"/>
                  <a:pt x="2450237" y="47766"/>
                </a:cubicBezTo>
                <a:cubicBezTo>
                  <a:pt x="3818878" y="-177135"/>
                  <a:pt x="7210147" y="462057"/>
                  <a:pt x="8211844" y="518282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680F6C-A05B-FA45-0A86-97FCC4765B77}"/>
              </a:ext>
            </a:extLst>
          </p:cNvPr>
          <p:cNvSpPr/>
          <p:nvPr/>
        </p:nvSpPr>
        <p:spPr>
          <a:xfrm>
            <a:off x="1825879" y="3737499"/>
            <a:ext cx="29554" cy="2769833"/>
          </a:xfrm>
          <a:custGeom>
            <a:avLst/>
            <a:gdLst>
              <a:gd name="connsiteX0" fmla="*/ 20676 w 29554"/>
              <a:gd name="connsiteY0" fmla="*/ 2769833 h 2769833"/>
              <a:gd name="connsiteX1" fmla="*/ 29554 w 29554"/>
              <a:gd name="connsiteY1" fmla="*/ 0 h 2769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554" h="2769833">
                <a:moveTo>
                  <a:pt x="20676" y="2769833"/>
                </a:moveTo>
                <a:cubicBezTo>
                  <a:pt x="1441" y="1679359"/>
                  <a:pt x="-17794" y="588886"/>
                  <a:pt x="29554" y="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93ECF25-5EB3-49C0-A87F-EF30DC114C33}"/>
              </a:ext>
            </a:extLst>
          </p:cNvPr>
          <p:cNvSpPr/>
          <p:nvPr/>
        </p:nvSpPr>
        <p:spPr>
          <a:xfrm>
            <a:off x="1855433" y="2618913"/>
            <a:ext cx="8211845" cy="1677879"/>
          </a:xfrm>
          <a:custGeom>
            <a:avLst/>
            <a:gdLst>
              <a:gd name="connsiteX0" fmla="*/ 0 w 8211845"/>
              <a:gd name="connsiteY0" fmla="*/ 1677879 h 1677879"/>
              <a:gd name="connsiteX1" fmla="*/ 4012707 w 8211845"/>
              <a:gd name="connsiteY1" fmla="*/ 621437 h 1677879"/>
              <a:gd name="connsiteX2" fmla="*/ 8211845 w 8211845"/>
              <a:gd name="connsiteY2" fmla="*/ 0 h 167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1845" h="1677879">
                <a:moveTo>
                  <a:pt x="0" y="1677879"/>
                </a:moveTo>
                <a:cubicBezTo>
                  <a:pt x="1322033" y="1289481"/>
                  <a:pt x="2644066" y="901083"/>
                  <a:pt x="4012707" y="621437"/>
                </a:cubicBezTo>
                <a:cubicBezTo>
                  <a:pt x="5381348" y="341791"/>
                  <a:pt x="6796596" y="170895"/>
                  <a:pt x="8211845" y="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6669E08-E463-5B8B-039E-B028C8478872}"/>
              </a:ext>
            </a:extLst>
          </p:cNvPr>
          <p:cNvSpPr/>
          <p:nvPr/>
        </p:nvSpPr>
        <p:spPr>
          <a:xfrm>
            <a:off x="1855433" y="1699273"/>
            <a:ext cx="8245288" cy="2295678"/>
          </a:xfrm>
          <a:custGeom>
            <a:avLst/>
            <a:gdLst>
              <a:gd name="connsiteX0" fmla="*/ 0 w 8245288"/>
              <a:gd name="connsiteY0" fmla="*/ 2295678 h 2295678"/>
              <a:gd name="connsiteX1" fmla="*/ 3906175 w 8245288"/>
              <a:gd name="connsiteY1" fmla="*/ 653310 h 2295678"/>
              <a:gd name="connsiteX2" fmla="*/ 8220722 w 8245288"/>
              <a:gd name="connsiteY2" fmla="*/ 67383 h 229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45288" h="2295678">
                <a:moveTo>
                  <a:pt x="0" y="2295678"/>
                </a:moveTo>
                <a:cubicBezTo>
                  <a:pt x="1268027" y="1660185"/>
                  <a:pt x="2536055" y="1024692"/>
                  <a:pt x="3906175" y="653310"/>
                </a:cubicBezTo>
                <a:cubicBezTo>
                  <a:pt x="5276295" y="281928"/>
                  <a:pt x="8561033" y="-173794"/>
                  <a:pt x="8220722" y="67383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72AB0D-C8EE-9EE4-431D-8ED72DBD6A56}"/>
              </a:ext>
            </a:extLst>
          </p:cNvPr>
          <p:cNvSpPr/>
          <p:nvPr/>
        </p:nvSpPr>
        <p:spPr>
          <a:xfrm>
            <a:off x="6164063" y="2929454"/>
            <a:ext cx="1704512" cy="23081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Semiconductors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56818B-FC0C-60FC-19B1-9941BE1B9639}"/>
              </a:ext>
            </a:extLst>
          </p:cNvPr>
          <p:cNvSpPr/>
          <p:nvPr/>
        </p:nvSpPr>
        <p:spPr>
          <a:xfrm>
            <a:off x="376425" y="2929454"/>
            <a:ext cx="1139498" cy="753437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Core Math Courses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2DD886-E3A0-E81E-7FDB-FE503DECCBEF}"/>
              </a:ext>
            </a:extLst>
          </p:cNvPr>
          <p:cNvSpPr/>
          <p:nvPr/>
        </p:nvSpPr>
        <p:spPr>
          <a:xfrm>
            <a:off x="376425" y="3817358"/>
            <a:ext cx="1145344" cy="75343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Courses applying Math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028CEE-F58A-113F-5DC4-87E72D9F48A6}"/>
              </a:ext>
            </a:extLst>
          </p:cNvPr>
          <p:cNvSpPr txBox="1"/>
          <p:nvPr/>
        </p:nvSpPr>
        <p:spPr>
          <a:xfrm>
            <a:off x="2501943" y="6546395"/>
            <a:ext cx="695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DB8-1947-5706-B01C-49144D08E6A7}"/>
              </a:ext>
            </a:extLst>
          </p:cNvPr>
          <p:cNvSpPr txBox="1"/>
          <p:nvPr/>
        </p:nvSpPr>
        <p:spPr>
          <a:xfrm>
            <a:off x="4580797" y="6550223"/>
            <a:ext cx="695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BFA98C-D363-F725-6E9B-E275C7473F33}"/>
              </a:ext>
            </a:extLst>
          </p:cNvPr>
          <p:cNvSpPr txBox="1"/>
          <p:nvPr/>
        </p:nvSpPr>
        <p:spPr>
          <a:xfrm>
            <a:off x="6659651" y="6546394"/>
            <a:ext cx="695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309197-D93A-92DC-69D8-23EDB39690C7}"/>
              </a:ext>
            </a:extLst>
          </p:cNvPr>
          <p:cNvSpPr txBox="1"/>
          <p:nvPr/>
        </p:nvSpPr>
        <p:spPr>
          <a:xfrm>
            <a:off x="8747532" y="6551853"/>
            <a:ext cx="695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4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DD6FCF-2E41-4A5D-DF12-EAA647802E79}"/>
              </a:ext>
            </a:extLst>
          </p:cNvPr>
          <p:cNvGrpSpPr/>
          <p:nvPr/>
        </p:nvGrpSpPr>
        <p:grpSpPr>
          <a:xfrm>
            <a:off x="1997472" y="1134338"/>
            <a:ext cx="8054994" cy="5269770"/>
            <a:chOff x="281354" y="956603"/>
            <a:chExt cx="11507372" cy="4417255"/>
          </a:xfrm>
        </p:grpSpPr>
        <p:sp>
          <p:nvSpPr>
            <p:cNvPr id="46" name="Freeform 144">
              <a:extLst>
                <a:ext uri="{FF2B5EF4-FFF2-40B4-BE49-F238E27FC236}">
                  <a16:creationId xmlns:a16="http://schemas.microsoft.com/office/drawing/2014/main" id="{2ADAEEA0-7A28-74F3-29CF-CE8ABD7791B7}"/>
                </a:ext>
              </a:extLst>
            </p:cNvPr>
            <p:cNvSpPr/>
            <p:nvPr/>
          </p:nvSpPr>
          <p:spPr>
            <a:xfrm>
              <a:off x="295422" y="976571"/>
              <a:ext cx="11479236" cy="4397287"/>
            </a:xfrm>
            <a:custGeom>
              <a:avLst/>
              <a:gdLst>
                <a:gd name="connsiteX0" fmla="*/ 0 w 11479236"/>
                <a:gd name="connsiteY0" fmla="*/ 3882683 h 3882683"/>
                <a:gd name="connsiteX1" fmla="*/ 2926080 w 11479236"/>
                <a:gd name="connsiteY1" fmla="*/ 3390314 h 3882683"/>
                <a:gd name="connsiteX2" fmla="*/ 7258929 w 11479236"/>
                <a:gd name="connsiteY2" fmla="*/ 1941342 h 3882683"/>
                <a:gd name="connsiteX3" fmla="*/ 8707901 w 11479236"/>
                <a:gd name="connsiteY3" fmla="*/ 1195754 h 3882683"/>
                <a:gd name="connsiteX4" fmla="*/ 11479236 w 11479236"/>
                <a:gd name="connsiteY4" fmla="*/ 0 h 3882683"/>
                <a:gd name="connsiteX5" fmla="*/ 11451101 w 11479236"/>
                <a:gd name="connsiteY5" fmla="*/ 3868616 h 3882683"/>
                <a:gd name="connsiteX6" fmla="*/ 0 w 11479236"/>
                <a:gd name="connsiteY6" fmla="*/ 3882683 h 388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9236" h="3882683">
                  <a:moveTo>
                    <a:pt x="0" y="3882683"/>
                  </a:moveTo>
                  <a:lnTo>
                    <a:pt x="2926080" y="3390314"/>
                  </a:lnTo>
                  <a:lnTo>
                    <a:pt x="7258929" y="1941342"/>
                  </a:lnTo>
                  <a:lnTo>
                    <a:pt x="8707901" y="1195754"/>
                  </a:lnTo>
                  <a:lnTo>
                    <a:pt x="11479236" y="0"/>
                  </a:lnTo>
                  <a:lnTo>
                    <a:pt x="11451101" y="3868616"/>
                  </a:lnTo>
                  <a:lnTo>
                    <a:pt x="0" y="3882683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Freeform 145">
              <a:extLst>
                <a:ext uri="{FF2B5EF4-FFF2-40B4-BE49-F238E27FC236}">
                  <a16:creationId xmlns:a16="http://schemas.microsoft.com/office/drawing/2014/main" id="{8D04A2CE-7DC6-E2A1-EBEB-03CA78662246}"/>
                </a:ext>
              </a:extLst>
            </p:cNvPr>
            <p:cNvSpPr/>
            <p:nvPr/>
          </p:nvSpPr>
          <p:spPr>
            <a:xfrm>
              <a:off x="281354" y="956603"/>
              <a:ext cx="11507372" cy="4417255"/>
            </a:xfrm>
            <a:custGeom>
              <a:avLst/>
              <a:gdLst>
                <a:gd name="connsiteX0" fmla="*/ 0 w 11507372"/>
                <a:gd name="connsiteY0" fmla="*/ 4417255 h 4417255"/>
                <a:gd name="connsiteX1" fmla="*/ 2954215 w 11507372"/>
                <a:gd name="connsiteY1" fmla="*/ 3854548 h 4417255"/>
                <a:gd name="connsiteX2" fmla="*/ 7287064 w 11507372"/>
                <a:gd name="connsiteY2" fmla="*/ 2208628 h 4417255"/>
                <a:gd name="connsiteX3" fmla="*/ 8721969 w 11507372"/>
                <a:gd name="connsiteY3" fmla="*/ 1364566 h 4417255"/>
                <a:gd name="connsiteX4" fmla="*/ 11507372 w 11507372"/>
                <a:gd name="connsiteY4" fmla="*/ 0 h 4417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7372" h="4417255">
                  <a:moveTo>
                    <a:pt x="0" y="4417255"/>
                  </a:moveTo>
                  <a:lnTo>
                    <a:pt x="2954215" y="3854548"/>
                  </a:lnTo>
                  <a:lnTo>
                    <a:pt x="7287064" y="2208628"/>
                  </a:lnTo>
                  <a:lnTo>
                    <a:pt x="8721969" y="1364566"/>
                  </a:lnTo>
                  <a:lnTo>
                    <a:pt x="11507372" y="0"/>
                  </a:ln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4AB54D-A96C-1E59-7A8C-0F2ECD39F50C}"/>
              </a:ext>
            </a:extLst>
          </p:cNvPr>
          <p:cNvSpPr txBox="1"/>
          <p:nvPr/>
        </p:nvSpPr>
        <p:spPr>
          <a:xfrm>
            <a:off x="3198913" y="3686346"/>
            <a:ext cx="2545530" cy="830997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Build Mathematical Modeling skills throughout the curriculum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5C6C3B9F-60DF-BE8A-8CA1-529247CE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94604"/>
          </a:xfrm>
        </p:spPr>
        <p:txBody>
          <a:bodyPr>
            <a:normAutofit/>
          </a:bodyPr>
          <a:lstStyle/>
          <a:p>
            <a:r>
              <a:rPr lang="en-US" sz="2400" dirty="0"/>
              <a:t>Electrical and Computer Engineering Course Curriculum</a:t>
            </a:r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253672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A36BFD-4CDB-CE26-49B2-6E3E7CB3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and Simulink Courseware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3E6FCE-30C7-0811-7817-00E36AD7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DBE80-74F6-1E99-8AE4-DCF7501B18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4691063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Teaching resource ready to use.</a:t>
            </a:r>
          </a:p>
          <a:p>
            <a:r>
              <a:rPr lang="en-US" sz="1800" dirty="0"/>
              <a:t>Lecture Notes</a:t>
            </a:r>
          </a:p>
          <a:p>
            <a:r>
              <a:rPr lang="en-US" sz="1800" dirty="0"/>
              <a:t>Project Ideas</a:t>
            </a:r>
          </a:p>
          <a:p>
            <a:r>
              <a:rPr lang="en-US" sz="1800" dirty="0"/>
              <a:t>Accompanying code</a:t>
            </a:r>
          </a:p>
          <a:p>
            <a:r>
              <a:rPr lang="en-US" sz="1800" dirty="0">
                <a:hlinkClick r:id="rId3"/>
              </a:rPr>
              <a:t>Get Started Teaching with MATLAB and Simulink - MATLAB &amp; Simulink</a:t>
            </a:r>
            <a:endParaRPr lang="en-US" sz="1800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940C331-32F7-8B08-2FDC-63822FE17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774" y="1394043"/>
            <a:ext cx="6891651" cy="17586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389F6-8CD8-2135-6BA0-F0E0486F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579" y="3192462"/>
            <a:ext cx="7272421" cy="301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9340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2095-5292-0672-549A-0EDDEC8E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Times New Roman" panose="02020603050405020304" pitchFamily="18" charset="0"/>
                <a:cs typeface="Calibri"/>
              </a:rPr>
              <a:t>MATLAB® Course Designer™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700A2-125F-4DED-C3BE-517774E2487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464425" y="1146175"/>
            <a:ext cx="4727575" cy="4648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Build structured learning paths with readings, videos, and MATLAB/Simulink exercises</a:t>
            </a:r>
          </a:p>
          <a:p>
            <a:r>
              <a:rPr lang="en-US" dirty="0"/>
              <a:t>Automatically grade student work, including Simulink models</a:t>
            </a:r>
          </a:p>
          <a:p>
            <a:r>
              <a:rPr lang="en-US" dirty="0"/>
              <a:t>Monitor student progress and intervene early </a:t>
            </a:r>
          </a:p>
          <a:p>
            <a:r>
              <a:rPr lang="en-US" dirty="0"/>
              <a:t>Share content with educators worldwide </a:t>
            </a:r>
          </a:p>
          <a:p>
            <a:r>
              <a:rPr lang="en-US" dirty="0"/>
              <a:t>1EdTech Certification for LMS integration using LTI 1.3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9A8CD3-70F5-6E02-70F3-E9383BAE58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73" y="1168907"/>
            <a:ext cx="3552274" cy="43234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639567-C598-48B2-2004-DCC008ED1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046" y="3228544"/>
            <a:ext cx="4726322" cy="3435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B26434-9AF5-9D6C-96E2-AE4580426CA8}"/>
              </a:ext>
            </a:extLst>
          </p:cNvPr>
          <p:cNvSpPr txBox="1"/>
          <p:nvPr/>
        </p:nvSpPr>
        <p:spPr>
          <a:xfrm>
            <a:off x="4259631" y="1447800"/>
            <a:ext cx="2843282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1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Create content, courseware, labs, and assessments for your MATLAB and Simulink based courses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FC87A-D4C5-2E25-423A-830C6AC23196}"/>
              </a:ext>
            </a:extLst>
          </p:cNvPr>
          <p:cNvSpPr txBox="1"/>
          <p:nvPr/>
        </p:nvSpPr>
        <p:spPr>
          <a:xfrm>
            <a:off x="7165711" y="5829599"/>
            <a:ext cx="6100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5"/>
              </a:rPr>
              <a:t>course-designer.mathworks.com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420175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96984A-9693-4BDD-C395-640210B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Grader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68E24-E269-F8AA-11D6-8E623753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21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AB2C7-49B5-E421-4E7D-72B4F77F16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0"/>
            <a:ext cx="107696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Provide </a:t>
            </a:r>
            <a:r>
              <a:rPr lang="en-US" sz="1800" b="1" dirty="0"/>
              <a:t>instant feedback</a:t>
            </a:r>
            <a:r>
              <a:rPr lang="en-US" sz="1800" dirty="0"/>
              <a:t> to your students by automating code grading.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Create </a:t>
            </a:r>
            <a:r>
              <a:rPr lang="en-US" sz="1800" b="1" dirty="0"/>
              <a:t>interactive course</a:t>
            </a:r>
            <a:r>
              <a:rPr lang="en-US" sz="1800" dirty="0"/>
              <a:t> assignments.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1" dirty="0"/>
              <a:t>Automatically grade</a:t>
            </a:r>
            <a:r>
              <a:rPr lang="en-US" sz="1800" dirty="0"/>
              <a:t> student work and provide feedback.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Run your assignments in </a:t>
            </a:r>
            <a:r>
              <a:rPr lang="en-US" sz="1800" b="1" dirty="0"/>
              <a:t>any learning environment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33E39B-0B82-1ED5-8155-DBBC6AFA5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2104464"/>
            <a:ext cx="774509" cy="7421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A4CDF53-16DE-8B02-A45B-790142EAA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799" y="2846565"/>
            <a:ext cx="774509" cy="74210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D65040-F0E0-7EAC-D797-164C05CB3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99" y="3640385"/>
            <a:ext cx="774509" cy="742101"/>
          </a:xfrm>
          <a:prstGeom prst="rect">
            <a:avLst/>
          </a:prstGeom>
        </p:spPr>
      </p:pic>
      <p:pic>
        <p:nvPicPr>
          <p:cNvPr id="9" name="Content Placeholder 11" descr="A person looking at a computer screen&#10;&#10;Description automatically generated with low confidence">
            <a:extLst>
              <a:ext uri="{FF2B5EF4-FFF2-40B4-BE49-F238E27FC236}">
                <a16:creationId xmlns:a16="http://schemas.microsoft.com/office/drawing/2014/main" id="{C4887BF1-722F-D2C8-C856-0FE73EDF05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9299" r="2584" b="20618"/>
          <a:stretch>
            <a:fillRect/>
          </a:stretch>
        </p:blipFill>
        <p:spPr>
          <a:xfrm>
            <a:off x="290623" y="4595976"/>
            <a:ext cx="11610753" cy="1814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7639A1-5E5E-4B3A-79FE-49D741A0B5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6597" y="2178520"/>
            <a:ext cx="3942603" cy="207818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0543873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059114-F840-488A-6C30-E757E798D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48" y="231242"/>
            <a:ext cx="10515600" cy="1325563"/>
          </a:xfrm>
        </p:spPr>
        <p:txBody>
          <a:bodyPr/>
          <a:lstStyle/>
          <a:p>
            <a:r>
              <a:rPr lang="en-US" dirty="0"/>
              <a:t>Traditional Grading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B664D1-25C6-6765-F4B6-EBDFD9E1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D17D7AFC-8C0E-31EE-7F1F-35338F5B7047}"/>
              </a:ext>
            </a:extLst>
          </p:cNvPr>
          <p:cNvSpPr txBox="1">
            <a:spLocks/>
          </p:cNvSpPr>
          <p:nvPr/>
        </p:nvSpPr>
        <p:spPr>
          <a:xfrm>
            <a:off x="5994400" y="457200"/>
            <a:ext cx="5384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Auto-Grading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72192-60B9-4A59-0A13-65F42CA10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318460"/>
            <a:ext cx="3919338" cy="2805714"/>
          </a:xfrm>
          <a:prstGeom prst="rect">
            <a:avLst/>
          </a:prstGeom>
        </p:spPr>
      </p:pic>
      <p:sp>
        <p:nvSpPr>
          <p:cNvPr id="7" name="Right Arrow 35">
            <a:extLst>
              <a:ext uri="{FF2B5EF4-FFF2-40B4-BE49-F238E27FC236}">
                <a16:creationId xmlns:a16="http://schemas.microsoft.com/office/drawing/2014/main" id="{CF713164-E607-769D-B36D-BD6914E7591F}"/>
              </a:ext>
            </a:extLst>
          </p:cNvPr>
          <p:cNvSpPr/>
          <p:nvPr/>
        </p:nvSpPr>
        <p:spPr>
          <a:xfrm>
            <a:off x="4961725" y="3630725"/>
            <a:ext cx="1231723" cy="482487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283FA4-5FC2-DA2A-EF08-C5776F8E8C3F}"/>
              </a:ext>
            </a:extLst>
          </p:cNvPr>
          <p:cNvGrpSpPr/>
          <p:nvPr/>
        </p:nvGrpSpPr>
        <p:grpSpPr>
          <a:xfrm>
            <a:off x="6298911" y="1324183"/>
            <a:ext cx="1557323" cy="4455349"/>
            <a:chOff x="7696200" y="1917742"/>
            <a:chExt cx="1557323" cy="4455349"/>
          </a:xfrm>
        </p:grpSpPr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F7BE2DC9-98B0-A20B-C83D-8AD35E5B4B3E}"/>
                </a:ext>
              </a:extLst>
            </p:cNvPr>
            <p:cNvSpPr/>
            <p:nvPr/>
          </p:nvSpPr>
          <p:spPr>
            <a:xfrm>
              <a:off x="7696200" y="1917742"/>
              <a:ext cx="1544623" cy="74925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Calibri" panose="020F0502020204030204" pitchFamily="34" charset="0"/>
                  <a:cs typeface="Calibri" panose="020F0502020204030204" pitchFamily="34" charset="0"/>
                </a:rPr>
                <a:t>Submit homework</a:t>
              </a:r>
            </a:p>
          </p:txBody>
        </p:sp>
        <p:sp>
          <p:nvSpPr>
            <p:cNvPr id="10" name="Rounded Rectangle 11">
              <a:extLst>
                <a:ext uri="{FF2B5EF4-FFF2-40B4-BE49-F238E27FC236}">
                  <a16:creationId xmlns:a16="http://schemas.microsoft.com/office/drawing/2014/main" id="{4B14CE6D-A579-E016-4BEB-A2D5024262E4}"/>
                </a:ext>
              </a:extLst>
            </p:cNvPr>
            <p:cNvSpPr/>
            <p:nvPr/>
          </p:nvSpPr>
          <p:spPr>
            <a:xfrm>
              <a:off x="7696200" y="2819400"/>
              <a:ext cx="1544623" cy="83820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Instant feedback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210FFF-8F17-87F3-3E47-CF005172CD39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8468512" y="2667000"/>
              <a:ext cx="0" cy="152400"/>
            </a:xfrm>
            <a:prstGeom prst="straightConnector1">
              <a:avLst/>
            </a:prstGeom>
            <a:ln w="38100">
              <a:solidFill>
                <a:schemeClr val="tx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bow Connector 13">
              <a:extLst>
                <a:ext uri="{FF2B5EF4-FFF2-40B4-BE49-F238E27FC236}">
                  <a16:creationId xmlns:a16="http://schemas.microsoft.com/office/drawing/2014/main" id="{0B144850-4092-5755-4D68-98272B68323B}"/>
                </a:ext>
              </a:extLst>
            </p:cNvPr>
            <p:cNvCxnSpPr>
              <a:cxnSpLocks/>
              <a:stCxn id="13" idx="3"/>
              <a:endCxn id="9" idx="3"/>
            </p:cNvCxnSpPr>
            <p:nvPr/>
          </p:nvCxnSpPr>
          <p:spPr>
            <a:xfrm flipV="1">
              <a:off x="9240823" y="2292371"/>
              <a:ext cx="12700" cy="3751675"/>
            </a:xfrm>
            <a:prstGeom prst="bentConnector3">
              <a:avLst>
                <a:gd name="adj1" fmla="val 1969984"/>
              </a:avLst>
            </a:prstGeom>
            <a:ln w="38100">
              <a:solidFill>
                <a:schemeClr val="tx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4">
              <a:extLst>
                <a:ext uri="{FF2B5EF4-FFF2-40B4-BE49-F238E27FC236}">
                  <a16:creationId xmlns:a16="http://schemas.microsoft.com/office/drawing/2014/main" id="{A97E1880-BAAE-D347-2D1E-C19200F922EB}"/>
                </a:ext>
              </a:extLst>
            </p:cNvPr>
            <p:cNvSpPr/>
            <p:nvPr/>
          </p:nvSpPr>
          <p:spPr>
            <a:xfrm>
              <a:off x="7696200" y="5715000"/>
              <a:ext cx="1544623" cy="65809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Calibri" panose="020F0502020204030204" pitchFamily="34" charset="0"/>
                  <a:cs typeface="Calibri" panose="020F0502020204030204" pitchFamily="34" charset="0"/>
                </a:rPr>
                <a:t>Improve and learn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25D54C-DBE4-C4D7-084B-C47FFB4667CE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8468512" y="3657600"/>
              <a:ext cx="0" cy="2057400"/>
            </a:xfrm>
            <a:prstGeom prst="straightConnector1">
              <a:avLst/>
            </a:prstGeom>
            <a:ln w="38100">
              <a:solidFill>
                <a:schemeClr val="tx2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CC0A8E-C160-EBBA-9902-6975FF9BF22C}"/>
                </a:ext>
              </a:extLst>
            </p:cNvPr>
            <p:cNvSpPr txBox="1"/>
            <p:nvPr/>
          </p:nvSpPr>
          <p:spPr>
            <a:xfrm rot="5400000">
              <a:off x="7924797" y="4424690"/>
              <a:ext cx="1859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Coaching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63F191A-EED2-98EA-B483-87DEBD23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852"/>
          <a:stretch>
            <a:fillRect/>
          </a:stretch>
        </p:blipFill>
        <p:spPr>
          <a:xfrm>
            <a:off x="977139" y="4136683"/>
            <a:ext cx="3845582" cy="24022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22DCFD-E4E7-D755-8313-FF2036F59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045" y="1263088"/>
            <a:ext cx="3473310" cy="35898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BCBBCC-97FC-F129-AF5D-0145EF6A4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045" y="4845255"/>
            <a:ext cx="3473310" cy="18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415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2BE3-B3C1-19EA-4333-F20D222B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12" name="Content Placeholder 11" descr="A person looking at a computer screen&#10;&#10;Description automatically generated with low confidence">
            <a:extLst>
              <a:ext uri="{FF2B5EF4-FFF2-40B4-BE49-F238E27FC236}">
                <a16:creationId xmlns:a16="http://schemas.microsoft.com/office/drawing/2014/main" id="{577AE35C-D504-49CA-88A6-6087A8BA691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2700"/>
            <a:ext cx="12204700" cy="30194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DBCB9F-7212-4634-9D97-636D9F29EE54}"/>
              </a:ext>
            </a:extLst>
          </p:cNvPr>
          <p:cNvSpPr txBox="1"/>
          <p:nvPr/>
        </p:nvSpPr>
        <p:spPr>
          <a:xfrm>
            <a:off x="0" y="1985455"/>
            <a:ext cx="6618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+mj-lt"/>
              </a:rPr>
              <a:t>Provide instant feedback to your students by automating code grading</a:t>
            </a:r>
            <a:endParaRPr lang="en-US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78A222-676A-4DE3-B044-21F6EB4B72C6}"/>
              </a:ext>
            </a:extLst>
          </p:cNvPr>
          <p:cNvSpPr/>
          <p:nvPr/>
        </p:nvSpPr>
        <p:spPr>
          <a:xfrm>
            <a:off x="6267921" y="6390198"/>
            <a:ext cx="5805714" cy="39661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0" u="none" strike="noStrike">
                <a:solidFill>
                  <a:schemeClr val="bg1"/>
                </a:solidFill>
                <a:effectLst/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https://www.mathworks.com/products/matlab-grader.html</a:t>
            </a:r>
            <a:r>
              <a:rPr lang="en-US" sz="1600" b="1" i="0" u="none" strike="noStrike">
                <a:solidFill>
                  <a:schemeClr val="bg1"/>
                </a:solidFill>
                <a:effectLst/>
                <a:latin typeface="+mj-lt"/>
              </a:rPr>
              <a:t> </a:t>
            </a:r>
            <a:endParaRPr lang="en-US" sz="16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B7BEAEB-2FCE-49C0-88E2-0455D54A8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804" y="3588909"/>
            <a:ext cx="774509" cy="74210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FD482D8-1C2F-45BD-BE94-BCEAE2DF4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9525" y="5428673"/>
            <a:ext cx="774509" cy="74210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0C49C3C-3981-42AF-B505-B83B41B81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9526" y="4520123"/>
            <a:ext cx="774509" cy="742101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399A9E2-799C-45E8-ABCD-3B1A8634597E}"/>
              </a:ext>
            </a:extLst>
          </p:cNvPr>
          <p:cNvSpPr txBox="1">
            <a:spLocks/>
          </p:cNvSpPr>
          <p:nvPr/>
        </p:nvSpPr>
        <p:spPr>
          <a:xfrm>
            <a:off x="6439313" y="3564037"/>
            <a:ext cx="5752674" cy="3128220"/>
          </a:xfrm>
          <a:prstGeom prst="rect">
            <a:avLst/>
          </a:prstGeom>
        </p:spPr>
        <p:txBody>
          <a:bodyPr/>
          <a:lstStyle>
            <a:lvl1pPr marL="343755" indent="-343755" algn="l" defTabSz="916680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4802" indent="-286462" algn="l" defTabSz="91668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5850" indent="-229170" algn="l" defTabSz="916680" rtl="0" eaLnBrk="1" latinLnBrk="0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4190" indent="-229170" algn="l" defTabSz="916680" rtl="0" eaLnBrk="1" latinLnBrk="0" hangingPunct="1">
              <a:spcBef>
                <a:spcPct val="20000"/>
              </a:spcBef>
              <a:buFont typeface="Arial" pitchFamily="34" charset="0"/>
              <a:buNone/>
              <a:defRPr sz="16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62531" indent="-229170" algn="l" defTabSz="91668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404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20871" indent="-229170" algn="l" defTabSz="9166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9211" indent="-229170" algn="l" defTabSz="9166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37551" indent="-229170" algn="l" defTabSz="9166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5891" indent="-229170" algn="l" defTabSz="9166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/>
              <a:t>Create interactive course assignments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Automatically grade student work and provide feedback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Run your assignments in any learning environment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46C23B-FC11-4C58-AFB5-E2175D85F4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355" y="3429000"/>
            <a:ext cx="5465170" cy="288075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8873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3D7D207-E394-DAB5-DEAF-01DAE9977F13}"/>
              </a:ext>
            </a:extLst>
          </p:cNvPr>
          <p:cNvGrpSpPr/>
          <p:nvPr/>
        </p:nvGrpSpPr>
        <p:grpSpPr>
          <a:xfrm>
            <a:off x="5356885" y="3808671"/>
            <a:ext cx="6373020" cy="2324654"/>
            <a:chOff x="5356885" y="3808671"/>
            <a:chExt cx="6373020" cy="2324654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F00C95A-906E-D8D9-43FE-56BB79F38868}"/>
                </a:ext>
              </a:extLst>
            </p:cNvPr>
            <p:cNvSpPr txBox="1"/>
            <p:nvPr/>
          </p:nvSpPr>
          <p:spPr>
            <a:xfrm>
              <a:off x="7464609" y="3808671"/>
              <a:ext cx="2718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  <a:cs typeface="Arial" pitchFamily="34" charset="0"/>
                </a:rPr>
                <a:t>Retrieve Information</a:t>
              </a:r>
            </a:p>
          </p:txBody>
        </p:sp>
        <p:pic>
          <p:nvPicPr>
            <p:cNvPr id="120" name="Graphic 119">
              <a:extLst>
                <a:ext uri="{FF2B5EF4-FFF2-40B4-BE49-F238E27FC236}">
                  <a16:creationId xmlns:a16="http://schemas.microsoft.com/office/drawing/2014/main" id="{C6F44F72-89B5-112C-D1CE-D516FB1B07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78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6935" y="4393203"/>
              <a:ext cx="760720" cy="760720"/>
            </a:xfrm>
            <a:prstGeom prst="rect">
              <a:avLst/>
            </a:prstGeom>
          </p:spPr>
        </p:pic>
        <p:pic>
          <p:nvPicPr>
            <p:cNvPr id="121" name="Graphic 120">
              <a:extLst>
                <a:ext uri="{FF2B5EF4-FFF2-40B4-BE49-F238E27FC236}">
                  <a16:creationId xmlns:a16="http://schemas.microsoft.com/office/drawing/2014/main" id="{F8B844AA-259F-A2F7-26BC-6E942C393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78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26431" y="4358002"/>
              <a:ext cx="831123" cy="831123"/>
            </a:xfrm>
            <a:prstGeom prst="rect">
              <a:avLst/>
            </a:prstGeom>
          </p:spPr>
        </p:pic>
        <p:sp>
          <p:nvSpPr>
            <p:cNvPr id="124" name="Flowchart: Document 123">
              <a:extLst>
                <a:ext uri="{FF2B5EF4-FFF2-40B4-BE49-F238E27FC236}">
                  <a16:creationId xmlns:a16="http://schemas.microsoft.com/office/drawing/2014/main" id="{1E174B7E-281F-3D9F-EB64-49DE2A08B5E5}"/>
                </a:ext>
              </a:extLst>
            </p:cNvPr>
            <p:cNvSpPr/>
            <p:nvPr/>
          </p:nvSpPr>
          <p:spPr>
            <a:xfrm>
              <a:off x="9738745" y="4393203"/>
              <a:ext cx="488373" cy="503394"/>
            </a:xfrm>
            <a:prstGeom prst="flowChartDocumen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lowchart: Document 124">
              <a:extLst>
                <a:ext uri="{FF2B5EF4-FFF2-40B4-BE49-F238E27FC236}">
                  <a16:creationId xmlns:a16="http://schemas.microsoft.com/office/drawing/2014/main" id="{1F1A34B1-CA04-D07D-8985-B8D0DB3BC655}"/>
                </a:ext>
              </a:extLst>
            </p:cNvPr>
            <p:cNvSpPr/>
            <p:nvPr/>
          </p:nvSpPr>
          <p:spPr>
            <a:xfrm>
              <a:off x="9956029" y="4456598"/>
              <a:ext cx="488373" cy="503394"/>
            </a:xfrm>
            <a:prstGeom prst="flowChartDocumen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lowchart: Document 125">
              <a:extLst>
                <a:ext uri="{FF2B5EF4-FFF2-40B4-BE49-F238E27FC236}">
                  <a16:creationId xmlns:a16="http://schemas.microsoft.com/office/drawing/2014/main" id="{9FEAD94B-4EC7-D410-DA05-C48DF5A5D899}"/>
                </a:ext>
              </a:extLst>
            </p:cNvPr>
            <p:cNvSpPr/>
            <p:nvPr/>
          </p:nvSpPr>
          <p:spPr>
            <a:xfrm>
              <a:off x="10156094" y="4506569"/>
              <a:ext cx="488373" cy="503394"/>
            </a:xfrm>
            <a:prstGeom prst="flowChartDocumen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094DE21-3AFE-4C30-6357-2A37FBF2E3C9}"/>
                </a:ext>
              </a:extLst>
            </p:cNvPr>
            <p:cNvSpPr txBox="1"/>
            <p:nvPr/>
          </p:nvSpPr>
          <p:spPr>
            <a:xfrm>
              <a:off x="5356885" y="5153923"/>
              <a:ext cx="2261935" cy="70788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accent2"/>
                  </a:solidFill>
                  <a:ea typeface="Cambria Math" panose="02040503050406030204" pitchFamily="18" charset="0"/>
                  <a:cs typeface="Arial" pitchFamily="34" charset="0"/>
                </a:rPr>
                <a:t>Scientific Discovery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4D3847E-97B5-E643-CC27-6D2545A6D8A2}"/>
                </a:ext>
              </a:extLst>
            </p:cNvPr>
            <p:cNvSpPr txBox="1"/>
            <p:nvPr/>
          </p:nvSpPr>
          <p:spPr>
            <a:xfrm>
              <a:off x="7320762" y="5117662"/>
              <a:ext cx="2261935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accent2"/>
                  </a:solidFill>
                  <a:ea typeface="Cambria Math" panose="02040503050406030204" pitchFamily="18" charset="0"/>
                  <a:cs typeface="Arial" pitchFamily="34" charset="0"/>
                </a:rPr>
                <a:t>Requirements for design &amp; engineering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2F47768-286E-E1C4-3001-F4DAAEAC2F5B}"/>
                </a:ext>
              </a:extLst>
            </p:cNvPr>
            <p:cNvSpPr txBox="1"/>
            <p:nvPr/>
          </p:nvSpPr>
          <p:spPr>
            <a:xfrm>
              <a:off x="9466736" y="5117661"/>
              <a:ext cx="2261935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accent2"/>
                  </a:solidFill>
                  <a:ea typeface="Cambria Math" panose="02040503050406030204" pitchFamily="18" charset="0"/>
                  <a:cs typeface="Arial" pitchFamily="34" charset="0"/>
                </a:rPr>
                <a:t>Knowledge from internal documents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E6110B4-0A23-F4F8-FAE2-309D004D5B98}"/>
                </a:ext>
              </a:extLst>
            </p:cNvPr>
            <p:cNvSpPr/>
            <p:nvPr/>
          </p:nvSpPr>
          <p:spPr>
            <a:xfrm>
              <a:off x="5694865" y="4196485"/>
              <a:ext cx="6035040" cy="19202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FBB6F7F-9EF4-032E-5C88-FC602F172C1B}"/>
              </a:ext>
            </a:extLst>
          </p:cNvPr>
          <p:cNvGrpSpPr/>
          <p:nvPr/>
        </p:nvGrpSpPr>
        <p:grpSpPr>
          <a:xfrm>
            <a:off x="284018" y="3785633"/>
            <a:ext cx="5084101" cy="2321337"/>
            <a:chOff x="284018" y="3785633"/>
            <a:chExt cx="5084101" cy="2321337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DAC366F-5026-F6B1-58C7-26870DFEFDF5}"/>
                </a:ext>
              </a:extLst>
            </p:cNvPr>
            <p:cNvGrpSpPr/>
            <p:nvPr/>
          </p:nvGrpSpPr>
          <p:grpSpPr>
            <a:xfrm>
              <a:off x="435072" y="4434363"/>
              <a:ext cx="2042548" cy="1194028"/>
              <a:chOff x="7970307" y="4272154"/>
              <a:chExt cx="2042548" cy="1194028"/>
            </a:xfrm>
          </p:grpSpPr>
          <p:sp>
            <p:nvSpPr>
              <p:cNvPr id="59" name="Flowchart: Document 58">
                <a:extLst>
                  <a:ext uri="{FF2B5EF4-FFF2-40B4-BE49-F238E27FC236}">
                    <a16:creationId xmlns:a16="http://schemas.microsoft.com/office/drawing/2014/main" id="{9B7DDEC0-B855-DBE0-09F6-07160A265032}"/>
                  </a:ext>
                </a:extLst>
              </p:cNvPr>
              <p:cNvSpPr/>
              <p:nvPr/>
            </p:nvSpPr>
            <p:spPr>
              <a:xfrm>
                <a:off x="9212139" y="4460985"/>
                <a:ext cx="786580" cy="322180"/>
              </a:xfrm>
              <a:prstGeom prst="flowChartDocumen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lowchart: Document 59">
                <a:extLst>
                  <a:ext uri="{FF2B5EF4-FFF2-40B4-BE49-F238E27FC236}">
                    <a16:creationId xmlns:a16="http://schemas.microsoft.com/office/drawing/2014/main" id="{A736DA61-B51F-E74D-83CF-F04C4AAD0AB6}"/>
                  </a:ext>
                </a:extLst>
              </p:cNvPr>
              <p:cNvSpPr/>
              <p:nvPr/>
            </p:nvSpPr>
            <p:spPr>
              <a:xfrm>
                <a:off x="8048860" y="4272154"/>
                <a:ext cx="786580" cy="725129"/>
              </a:xfrm>
              <a:prstGeom prst="flowChartDocumen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48811B3-07A0-2AF4-D190-898D580F8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7060" y="4602322"/>
                <a:ext cx="315554" cy="0"/>
              </a:xfrm>
              <a:prstGeom prst="straightConnector1">
                <a:avLst/>
              </a:prstGeom>
              <a:noFill/>
              <a:ln w="571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FDFC88E-764F-0945-024E-2ED6B40C1F70}"/>
                  </a:ext>
                </a:extLst>
              </p:cNvPr>
              <p:cNvSpPr txBox="1"/>
              <p:nvPr/>
            </p:nvSpPr>
            <p:spPr>
              <a:xfrm>
                <a:off x="7970307" y="5066072"/>
                <a:ext cx="2042548" cy="4001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accent2"/>
                    </a:solidFill>
                    <a:ea typeface="Cambria Math" panose="02040503050406030204" pitchFamily="18" charset="0"/>
                    <a:cs typeface="Arial" pitchFamily="34" charset="0"/>
                  </a:rPr>
                  <a:t>One document</a:t>
                </a: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9D5FC64-0FAF-97F0-DBE9-216D2CFE4A3A}"/>
                </a:ext>
              </a:extLst>
            </p:cNvPr>
            <p:cNvSpPr txBox="1"/>
            <p:nvPr/>
          </p:nvSpPr>
          <p:spPr>
            <a:xfrm>
              <a:off x="1820884" y="3785633"/>
              <a:ext cx="19735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  <a:cs typeface="Arial" pitchFamily="34" charset="0"/>
                </a:rPr>
                <a:t>Summarize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1E0E9EB-5F29-1A84-A30E-086D3B767BDC}"/>
                </a:ext>
              </a:extLst>
            </p:cNvPr>
            <p:cNvGrpSpPr/>
            <p:nvPr/>
          </p:nvGrpSpPr>
          <p:grpSpPr>
            <a:xfrm>
              <a:off x="2797216" y="4511177"/>
              <a:ext cx="2373756" cy="1217416"/>
              <a:chOff x="7897903" y="4272154"/>
              <a:chExt cx="2373756" cy="1217416"/>
            </a:xfrm>
          </p:grpSpPr>
          <p:sp>
            <p:nvSpPr>
              <p:cNvPr id="95" name="Flowchart: Document 94">
                <a:extLst>
                  <a:ext uri="{FF2B5EF4-FFF2-40B4-BE49-F238E27FC236}">
                    <a16:creationId xmlns:a16="http://schemas.microsoft.com/office/drawing/2014/main" id="{5866FD7A-0572-F0FE-6D40-51FFF941054B}"/>
                  </a:ext>
                </a:extLst>
              </p:cNvPr>
              <p:cNvSpPr/>
              <p:nvPr/>
            </p:nvSpPr>
            <p:spPr>
              <a:xfrm>
                <a:off x="9212139" y="4460985"/>
                <a:ext cx="786580" cy="322180"/>
              </a:xfrm>
              <a:prstGeom prst="flowChartDocumen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lowchart: Document 99">
                <a:extLst>
                  <a:ext uri="{FF2B5EF4-FFF2-40B4-BE49-F238E27FC236}">
                    <a16:creationId xmlns:a16="http://schemas.microsoft.com/office/drawing/2014/main" id="{C53EF84F-9D0E-6AB9-8949-4C03166FCDBF}"/>
                  </a:ext>
                </a:extLst>
              </p:cNvPr>
              <p:cNvSpPr/>
              <p:nvPr/>
            </p:nvSpPr>
            <p:spPr>
              <a:xfrm>
                <a:off x="8048860" y="4272154"/>
                <a:ext cx="786580" cy="725129"/>
              </a:xfrm>
              <a:prstGeom prst="flowChartDocumen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3826BD76-8BC1-1AB7-7228-6B6EFFAE2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7060" y="4602322"/>
                <a:ext cx="315554" cy="0"/>
              </a:xfrm>
              <a:prstGeom prst="straightConnector1">
                <a:avLst/>
              </a:prstGeom>
              <a:noFill/>
              <a:ln w="571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997015E-7E57-9A27-C90F-C921570711BA}"/>
                  </a:ext>
                </a:extLst>
              </p:cNvPr>
              <p:cNvSpPr txBox="1"/>
              <p:nvPr/>
            </p:nvSpPr>
            <p:spPr>
              <a:xfrm>
                <a:off x="7897903" y="5089460"/>
                <a:ext cx="2373756" cy="4001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accent2"/>
                    </a:solidFill>
                    <a:ea typeface="Cambria Math" panose="02040503050406030204" pitchFamily="18" charset="0"/>
                    <a:cs typeface="Arial" pitchFamily="34" charset="0"/>
                  </a:rPr>
                  <a:t>Multiple documents</a:t>
                </a:r>
              </a:p>
            </p:txBody>
          </p:sp>
        </p:grpSp>
        <p:sp>
          <p:nvSpPr>
            <p:cNvPr id="115" name="Flowchart: Document 114">
              <a:extLst>
                <a:ext uri="{FF2B5EF4-FFF2-40B4-BE49-F238E27FC236}">
                  <a16:creationId xmlns:a16="http://schemas.microsoft.com/office/drawing/2014/main" id="{84CEEBE5-8889-8A0A-E291-5E4742525317}"/>
                </a:ext>
              </a:extLst>
            </p:cNvPr>
            <p:cNvSpPr/>
            <p:nvPr/>
          </p:nvSpPr>
          <p:spPr>
            <a:xfrm>
              <a:off x="2845201" y="4434363"/>
              <a:ext cx="786580" cy="725129"/>
            </a:xfrm>
            <a:prstGeom prst="flowChartDocumen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lowchart: Document 115">
              <a:extLst>
                <a:ext uri="{FF2B5EF4-FFF2-40B4-BE49-F238E27FC236}">
                  <a16:creationId xmlns:a16="http://schemas.microsoft.com/office/drawing/2014/main" id="{23981CF7-F0D2-4591-6F7B-11CA268A09BF}"/>
                </a:ext>
              </a:extLst>
            </p:cNvPr>
            <p:cNvSpPr/>
            <p:nvPr/>
          </p:nvSpPr>
          <p:spPr>
            <a:xfrm>
              <a:off x="2793498" y="4337443"/>
              <a:ext cx="786580" cy="725129"/>
            </a:xfrm>
            <a:prstGeom prst="flowChartDocumen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82C840A-CD52-6749-5A3E-ACE716299146}"/>
                </a:ext>
              </a:extLst>
            </p:cNvPr>
            <p:cNvSpPr/>
            <p:nvPr/>
          </p:nvSpPr>
          <p:spPr>
            <a:xfrm>
              <a:off x="284018" y="4186730"/>
              <a:ext cx="5084101" cy="19202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3B17E6A-4C16-8E77-824B-2AA521EF0432}"/>
              </a:ext>
            </a:extLst>
          </p:cNvPr>
          <p:cNvGrpSpPr/>
          <p:nvPr/>
        </p:nvGrpSpPr>
        <p:grpSpPr>
          <a:xfrm>
            <a:off x="5711707" y="1003356"/>
            <a:ext cx="6035040" cy="2316259"/>
            <a:chOff x="5711707" y="1003356"/>
            <a:chExt cx="6035040" cy="231625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CA31485-CDC0-6E7A-21A8-AE3DEF27D47B}"/>
                </a:ext>
              </a:extLst>
            </p:cNvPr>
            <p:cNvSpPr txBox="1"/>
            <p:nvPr/>
          </p:nvSpPr>
          <p:spPr>
            <a:xfrm>
              <a:off x="7574303" y="1003356"/>
              <a:ext cx="19735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  <a:cs typeface="Arial" pitchFamily="34" charset="0"/>
                </a:rPr>
                <a:t>Classify Text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FF42B8B-A30C-37FA-8956-22673B9698A8}"/>
                </a:ext>
              </a:extLst>
            </p:cNvPr>
            <p:cNvGrpSpPr/>
            <p:nvPr/>
          </p:nvGrpSpPr>
          <p:grpSpPr>
            <a:xfrm>
              <a:off x="6137739" y="1454742"/>
              <a:ext cx="2873128" cy="1832863"/>
              <a:chOff x="4230239" y="4026002"/>
              <a:chExt cx="2873128" cy="1832863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AC1163C-B84B-E339-D415-C736A416B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78000"/>
              </a:blip>
              <a:stretch>
                <a:fillRect/>
              </a:stretch>
            </p:blipFill>
            <p:spPr>
              <a:xfrm>
                <a:off x="4676077" y="4026002"/>
                <a:ext cx="1762065" cy="1174710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70A9B9-D6AA-EA5C-F23A-11EBFEB34260}"/>
                  </a:ext>
                </a:extLst>
              </p:cNvPr>
              <p:cNvSpPr txBox="1"/>
              <p:nvPr/>
            </p:nvSpPr>
            <p:spPr>
              <a:xfrm>
                <a:off x="4230239" y="5150979"/>
                <a:ext cx="2873128" cy="7078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accent2"/>
                    </a:solidFill>
                    <a:ea typeface="Cambria Math" panose="02040503050406030204" pitchFamily="18" charset="0"/>
                    <a:cs typeface="Arial" pitchFamily="34" charset="0"/>
                  </a:rPr>
                  <a:t>Classify Maintenance Documents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AD3B64-B0E5-6D79-64D3-D0786DAAF3EE}"/>
                </a:ext>
              </a:extLst>
            </p:cNvPr>
            <p:cNvSpPr txBox="1"/>
            <p:nvPr/>
          </p:nvSpPr>
          <p:spPr>
            <a:xfrm>
              <a:off x="8863561" y="2574624"/>
              <a:ext cx="2261935" cy="70788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accent2"/>
                  </a:solidFill>
                  <a:ea typeface="Cambria Math" panose="02040503050406030204" pitchFamily="18" charset="0"/>
                  <a:cs typeface="Arial" pitchFamily="34" charset="0"/>
                </a:rPr>
                <a:t>Analyze Sentiment</a:t>
              </a:r>
            </a:p>
          </p:txBody>
        </p:sp>
        <p:pic>
          <p:nvPicPr>
            <p:cNvPr id="54" name="Graphic 53" descr="Sad face outline outline">
              <a:extLst>
                <a:ext uri="{FF2B5EF4-FFF2-40B4-BE49-F238E27FC236}">
                  <a16:creationId xmlns:a16="http://schemas.microsoft.com/office/drawing/2014/main" id="{F8491850-38B0-AFCE-D9BD-EEC0641F00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78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56029" y="1719808"/>
              <a:ext cx="731520" cy="731520"/>
            </a:xfrm>
            <a:prstGeom prst="rect">
              <a:avLst/>
            </a:prstGeom>
          </p:spPr>
        </p:pic>
        <p:pic>
          <p:nvPicPr>
            <p:cNvPr id="56" name="Graphic 55" descr="Smiling face outline outline">
              <a:extLst>
                <a:ext uri="{FF2B5EF4-FFF2-40B4-BE49-F238E27FC236}">
                  <a16:creationId xmlns:a16="http://schemas.microsoft.com/office/drawing/2014/main" id="{D73CA40E-A378-4B2F-BF82-5809D9D207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78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95690" y="1736439"/>
              <a:ext cx="731520" cy="731520"/>
            </a:xfrm>
            <a:prstGeom prst="rect">
              <a:avLst/>
            </a:prstGeom>
          </p:spPr>
        </p:pic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E0870E3-E54D-801B-7009-646297CBB908}"/>
                </a:ext>
              </a:extLst>
            </p:cNvPr>
            <p:cNvSpPr/>
            <p:nvPr/>
          </p:nvSpPr>
          <p:spPr>
            <a:xfrm>
              <a:off x="5711707" y="1399375"/>
              <a:ext cx="6035040" cy="19202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E20BDBE-6526-DB0F-2D76-013173C25B02}"/>
              </a:ext>
            </a:extLst>
          </p:cNvPr>
          <p:cNvGrpSpPr/>
          <p:nvPr/>
        </p:nvGrpSpPr>
        <p:grpSpPr>
          <a:xfrm>
            <a:off x="303150" y="1035098"/>
            <a:ext cx="5084101" cy="2297692"/>
            <a:chOff x="303150" y="1035098"/>
            <a:chExt cx="5084101" cy="2297692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9597EB2-90DB-B818-84DA-9C6380661FA2}"/>
                </a:ext>
              </a:extLst>
            </p:cNvPr>
            <p:cNvGrpSpPr/>
            <p:nvPr/>
          </p:nvGrpSpPr>
          <p:grpSpPr>
            <a:xfrm>
              <a:off x="303150" y="1035098"/>
              <a:ext cx="5084101" cy="2297692"/>
              <a:chOff x="303150" y="1035098"/>
              <a:chExt cx="5084101" cy="229769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6FA0125-310F-26E2-D8CE-F915C40E22E8}"/>
                  </a:ext>
                </a:extLst>
              </p:cNvPr>
              <p:cNvSpPr txBox="1"/>
              <p:nvPr/>
            </p:nvSpPr>
            <p:spPr>
              <a:xfrm>
                <a:off x="1858410" y="1035098"/>
                <a:ext cx="19735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latin typeface="Arial" pitchFamily="34" charset="0"/>
                    <a:cs typeface="Arial" pitchFamily="34" charset="0"/>
                  </a:rPr>
                  <a:t>Generate Text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A97A638-73B9-1F1A-D3E1-8AB20BB1530D}"/>
                  </a:ext>
                </a:extLst>
              </p:cNvPr>
              <p:cNvGrpSpPr/>
              <p:nvPr/>
            </p:nvGrpSpPr>
            <p:grpSpPr>
              <a:xfrm>
                <a:off x="1307549" y="1600837"/>
                <a:ext cx="2042548" cy="1339959"/>
                <a:chOff x="4423869" y="2161804"/>
                <a:chExt cx="2042548" cy="1339959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09CED0C-F7D1-7DC8-A0DE-D2D7E274C1E1}"/>
                    </a:ext>
                  </a:extLst>
                </p:cNvPr>
                <p:cNvSpPr txBox="1"/>
                <p:nvPr/>
              </p:nvSpPr>
              <p:spPr>
                <a:xfrm>
                  <a:off x="4423869" y="3101653"/>
                  <a:ext cx="204254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>
                      <a:solidFill>
                        <a:schemeClr val="accent2"/>
                      </a:solidFill>
                      <a:ea typeface="Cambria Math" panose="02040503050406030204" pitchFamily="18" charset="0"/>
                      <a:cs typeface="Arial" pitchFamily="34" charset="0"/>
                    </a:rPr>
                    <a:t>Write Code</a:t>
                  </a:r>
                </a:p>
              </p:txBody>
            </p:sp>
            <p:pic>
              <p:nvPicPr>
                <p:cNvPr id="40" name="Graphic 39">
                  <a:extLst>
                    <a:ext uri="{FF2B5EF4-FFF2-40B4-BE49-F238E27FC236}">
                      <a16:creationId xmlns:a16="http://schemas.microsoft.com/office/drawing/2014/main" id="{3B2CDD89-15CB-2ECA-A8AE-825747EE4E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52444" y="2161804"/>
                  <a:ext cx="971550" cy="971550"/>
                </a:xfrm>
                <a:prstGeom prst="rect">
                  <a:avLst/>
                </a:prstGeom>
              </p:spPr>
            </p:pic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0F0F601-55F1-95C4-B648-9DF23B53A326}"/>
                  </a:ext>
                </a:extLst>
              </p:cNvPr>
              <p:cNvGrpSpPr/>
              <p:nvPr/>
            </p:nvGrpSpPr>
            <p:grpSpPr>
              <a:xfrm>
                <a:off x="2761228" y="1584124"/>
                <a:ext cx="2042548" cy="1373386"/>
                <a:chOff x="7639781" y="2133440"/>
                <a:chExt cx="2042548" cy="1373386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E694A91-50C9-EC30-A8C7-EB0052105105}"/>
                    </a:ext>
                  </a:extLst>
                </p:cNvPr>
                <p:cNvSpPr txBox="1"/>
                <p:nvPr/>
              </p:nvSpPr>
              <p:spPr>
                <a:xfrm>
                  <a:off x="7639781" y="3106716"/>
                  <a:ext cx="204254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>
                      <a:solidFill>
                        <a:schemeClr val="accent2"/>
                      </a:solidFill>
                      <a:ea typeface="Cambria Math" panose="02040503050406030204" pitchFamily="18" charset="0"/>
                      <a:cs typeface="Arial" pitchFamily="34" charset="0"/>
                    </a:rPr>
                    <a:t>Document</a:t>
                  </a:r>
                </a:p>
              </p:txBody>
            </p:sp>
            <p:pic>
              <p:nvPicPr>
                <p:cNvPr id="43" name="Graphic 42">
                  <a:extLst>
                    <a:ext uri="{FF2B5EF4-FFF2-40B4-BE49-F238E27FC236}">
                      <a16:creationId xmlns:a16="http://schemas.microsoft.com/office/drawing/2014/main" id="{398937BC-F4E3-D55E-B70E-A6981B1545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19047" y="2133440"/>
                  <a:ext cx="1062545" cy="1062545"/>
                </a:xfrm>
                <a:prstGeom prst="rect">
                  <a:avLst/>
                </a:prstGeom>
              </p:spPr>
            </p:pic>
          </p:grp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F688BA8-0775-0660-28D5-7962DB9D6FCC}"/>
                  </a:ext>
                </a:extLst>
              </p:cNvPr>
              <p:cNvSpPr/>
              <p:nvPr/>
            </p:nvSpPr>
            <p:spPr>
              <a:xfrm>
                <a:off x="303150" y="1412550"/>
                <a:ext cx="5084101" cy="192024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2" name="Graphic 1" descr="Programmer female with solid fill">
              <a:extLst>
                <a:ext uri="{FF2B5EF4-FFF2-40B4-BE49-F238E27FC236}">
                  <a16:creationId xmlns:a16="http://schemas.microsoft.com/office/drawing/2014/main" id="{81D03A81-59CB-31F7-5035-2386B53119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6041" y="1683422"/>
              <a:ext cx="1288051" cy="128805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73A5374-3A42-2173-7F51-954D59CF0472}"/>
              </a:ext>
            </a:extLst>
          </p:cNvPr>
          <p:cNvSpPr/>
          <p:nvPr/>
        </p:nvSpPr>
        <p:spPr>
          <a:xfrm>
            <a:off x="177800" y="1003356"/>
            <a:ext cx="5384800" cy="268535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294FA8-F4D1-9A76-BE5D-3004A43CC1B7}"/>
              </a:ext>
            </a:extLst>
          </p:cNvPr>
          <p:cNvSpPr txBox="1">
            <a:spLocks/>
          </p:cNvSpPr>
          <p:nvPr/>
        </p:nvSpPr>
        <p:spPr>
          <a:xfrm>
            <a:off x="292673" y="360000"/>
            <a:ext cx="11467527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US" sz="3200" dirty="0">
              <a:latin typeface="Futura Std Book"/>
              <a:cs typeface="Segoe UI Ligh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13BE5-95EB-8163-24A9-6B19F22F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1705"/>
            <a:ext cx="7320762" cy="1043772"/>
          </a:xfrm>
        </p:spPr>
        <p:txBody>
          <a:bodyPr>
            <a:noAutofit/>
          </a:bodyPr>
          <a:lstStyle/>
          <a:p>
            <a:r>
              <a:rPr lang="en-US" dirty="0">
                <a:latin typeface="+mj-lt"/>
                <a:cs typeface="Segoe UI Light" panose="020B0502040204020203" pitchFamily="34" charset="0"/>
              </a:rPr>
              <a:t>GenAI can help you solve specific problems</a:t>
            </a:r>
            <a:endParaRPr lang="en-US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75122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66D9E-8A3C-33A1-C1AE-53342F06A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029" y="2312718"/>
            <a:ext cx="3420152" cy="1920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999CB2-9181-B667-688B-68AEAE9E77EB}"/>
              </a:ext>
            </a:extLst>
          </p:cNvPr>
          <p:cNvSpPr txBox="1"/>
          <p:nvPr/>
        </p:nvSpPr>
        <p:spPr>
          <a:xfrm>
            <a:off x="9397821" y="1789498"/>
            <a:ext cx="1844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Educators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BD9BD-30F6-1244-CF4B-4325D1574654}"/>
              </a:ext>
            </a:extLst>
          </p:cNvPr>
          <p:cNvSpPr txBox="1"/>
          <p:nvPr/>
        </p:nvSpPr>
        <p:spPr>
          <a:xfrm>
            <a:off x="8516029" y="4495125"/>
            <a:ext cx="345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  <a:cs typeface="Segoe UI" panose="020B0502040204020203" pitchFamily="34" charset="0"/>
              </a:rPr>
              <a:t>Create syllabus for a new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  <a:cs typeface="Segoe UI" panose="020B0502040204020203" pitchFamily="34" charset="0"/>
              </a:rPr>
              <a:t>Create lecture content based on learning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  <a:cs typeface="Segoe UI" panose="020B0502040204020203" pitchFamily="34" charset="0"/>
              </a:rPr>
              <a:t>Update content each term</a:t>
            </a:r>
            <a:endParaRPr lang="en-AU" sz="160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DCE837-CA55-22EB-06E5-C7B08864F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38" y="2277224"/>
            <a:ext cx="3444539" cy="19265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232979-8D0E-7D9A-C2C9-EBF6C043CC73}"/>
              </a:ext>
            </a:extLst>
          </p:cNvPr>
          <p:cNvSpPr txBox="1"/>
          <p:nvPr/>
        </p:nvSpPr>
        <p:spPr>
          <a:xfrm>
            <a:off x="791850" y="1754004"/>
            <a:ext cx="2178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Researchers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65EC3F-1885-EDAC-0F4F-E8E3447132DF}"/>
              </a:ext>
            </a:extLst>
          </p:cNvPr>
          <p:cNvSpPr txBox="1"/>
          <p:nvPr/>
        </p:nvSpPr>
        <p:spPr>
          <a:xfrm>
            <a:off x="178238" y="4443675"/>
            <a:ext cx="37762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Ask general questions on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Ask to generate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Summarize research/literature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110C6-32DC-E227-AC89-0B02B2738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017" y="2319900"/>
            <a:ext cx="2956816" cy="1963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56ED62-34C8-0C4D-6D9D-4844F10856AF}"/>
              </a:ext>
            </a:extLst>
          </p:cNvPr>
          <p:cNvSpPr txBox="1"/>
          <p:nvPr/>
        </p:nvSpPr>
        <p:spPr>
          <a:xfrm>
            <a:off x="5190829" y="1796680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b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B56C9F-89E7-0C31-30B2-605F8105DFE3}"/>
              </a:ext>
            </a:extLst>
          </p:cNvPr>
          <p:cNvSpPr txBox="1"/>
          <p:nvPr/>
        </p:nvSpPr>
        <p:spPr>
          <a:xfrm>
            <a:off x="4435159" y="4465728"/>
            <a:ext cx="36002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AI as a Project Partner – help me write this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AI as a Tutor – explain this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>
              <a:latin typeface="+mj-lt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>
                <a:latin typeface="+mj-lt"/>
                <a:cs typeface="Segoe UI" panose="020B0502040204020203" pitchFamily="34" charset="0"/>
              </a:rPr>
              <a:t>AI as a Feedback Generator – what’s wrong with my code?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D35309-532B-7A1E-5F64-FE9482D47B4C}"/>
              </a:ext>
            </a:extLst>
          </p:cNvPr>
          <p:cNvSpPr txBox="1">
            <a:spLocks/>
          </p:cNvSpPr>
          <p:nvPr/>
        </p:nvSpPr>
        <p:spPr>
          <a:xfrm>
            <a:off x="539474" y="968613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BB019B-2D25-A555-509D-292264FEE7CF}"/>
              </a:ext>
            </a:extLst>
          </p:cNvPr>
          <p:cNvSpPr txBox="1">
            <a:spLocks/>
          </p:cNvSpPr>
          <p:nvPr/>
        </p:nvSpPr>
        <p:spPr>
          <a:xfrm>
            <a:off x="292673" y="360000"/>
            <a:ext cx="11122813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US" sz="2000" dirty="0">
              <a:solidFill>
                <a:srgbClr val="D78824"/>
              </a:solidFill>
              <a:latin typeface="Futura Std Book"/>
              <a:cs typeface="Segoe UI Ligh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01949-84C6-57A0-7E24-2D43E521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95"/>
            <a:ext cx="12320337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6A8"/>
                </a:solidFill>
                <a:latin typeface="+mj-lt"/>
                <a:cs typeface="Segoe UI Light" panose="020B0502040204020203" pitchFamily="34" charset="0"/>
              </a:rPr>
              <a:t>Three potential users of Gen-AI</a:t>
            </a:r>
            <a:br>
              <a:rPr lang="en-US" sz="5400" dirty="0">
                <a:solidFill>
                  <a:srgbClr val="0076A8"/>
                </a:solidFill>
                <a:latin typeface="+mj-lt"/>
                <a:cs typeface="Segoe UI Light" panose="020B0502040204020203" pitchFamily="34" charset="0"/>
              </a:rPr>
            </a:br>
            <a:r>
              <a:rPr lang="en-US" sz="3100" dirty="0">
                <a:solidFill>
                  <a:srgbClr val="D78824"/>
                </a:solidFill>
                <a:latin typeface="+mj-lt"/>
                <a:cs typeface="Segoe UI Light" panose="020B0502040204020203" pitchFamily="34" charset="0"/>
              </a:rPr>
              <a:t>Who are the Gen-AI users in higher education? 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367307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1C376-1D74-7301-DA3F-39CE03DD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9659-6667-0F53-A5E5-AEFF17F8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to a world with </a:t>
            </a:r>
            <a:br>
              <a:rPr lang="en-US" dirty="0"/>
            </a:br>
            <a:r>
              <a:rPr lang="en-US" dirty="0"/>
              <a:t>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CD7FC-59F7-0ACD-1793-4B1A7AC1E1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10769600" cy="4648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Requires learning new skills</a:t>
            </a:r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F41211-954D-5E32-29F2-ECE7DE0E5C4B}"/>
              </a:ext>
            </a:extLst>
          </p:cNvPr>
          <p:cNvSpPr/>
          <p:nvPr/>
        </p:nvSpPr>
        <p:spPr>
          <a:xfrm>
            <a:off x="1026160" y="2204720"/>
            <a:ext cx="5293360" cy="1320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How to prompt and iterate on a response?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AD4D7E-3147-F325-5494-D53D3BCCC83F}"/>
              </a:ext>
            </a:extLst>
          </p:cNvPr>
          <p:cNvSpPr/>
          <p:nvPr/>
        </p:nvSpPr>
        <p:spPr>
          <a:xfrm>
            <a:off x="1026160" y="3604260"/>
            <a:ext cx="5293360" cy="1320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How to process the generated results?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63FB2C-5FE9-0466-96D3-3C8862883369}"/>
              </a:ext>
            </a:extLst>
          </p:cNvPr>
          <p:cNvSpPr/>
          <p:nvPr/>
        </p:nvSpPr>
        <p:spPr>
          <a:xfrm>
            <a:off x="1026160" y="5003800"/>
            <a:ext cx="5293360" cy="13208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How do I know what the AI’s strengths and weaknesses are?  </a:t>
            </a:r>
          </a:p>
        </p:txBody>
      </p:sp>
    </p:spTree>
    <p:extLst>
      <p:ext uri="{BB962C8B-B14F-4D97-AF65-F5344CB8AC3E}">
        <p14:creationId xmlns:p14="http://schemas.microsoft.com/office/powerpoint/2010/main" val="14273069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63FBF-B5C4-18BD-24BD-62260279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0A042A-942E-E1C8-63E7-CD33BF02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MATLAB Copilot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89AFFE-FB60-BD22-E392-205BB785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5403FC6-2C46-41B9-8E3F-DCE81AF2A68D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BAEB3-3EDB-C1A4-1F93-3DC0E9FB5E7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Evolving Teaching in the Era of GenAI:</a:t>
            </a:r>
          </a:p>
          <a:p>
            <a:r>
              <a:rPr lang="en-US" sz="1800" b="1" dirty="0"/>
              <a:t>MATLAB Copilot</a:t>
            </a:r>
            <a:r>
              <a:rPr lang="en-US" sz="1800" dirty="0"/>
              <a:t> provides generative </a:t>
            </a:r>
            <a:r>
              <a:rPr lang="en-US" sz="1800" b="1" dirty="0"/>
              <a:t>AI-powered</a:t>
            </a:r>
            <a:r>
              <a:rPr lang="en-US" sz="1800" dirty="0"/>
              <a:t> capabilities for the MATLAB environment.</a:t>
            </a:r>
          </a:p>
          <a:p>
            <a:r>
              <a:rPr lang="en-US" sz="1800" dirty="0"/>
              <a:t>Ask questions in the </a:t>
            </a:r>
            <a:r>
              <a:rPr lang="en-US" sz="1800" b="1" dirty="0"/>
              <a:t>Copilot Chat</a:t>
            </a:r>
            <a:r>
              <a:rPr lang="en-US" sz="1800" dirty="0"/>
              <a:t> and get responses based on relevant </a:t>
            </a:r>
            <a:r>
              <a:rPr lang="en-US" sz="1800" b="1" dirty="0"/>
              <a:t>MathWorks documentation</a:t>
            </a:r>
            <a:r>
              <a:rPr lang="en-US" sz="1800" dirty="0"/>
              <a:t>.</a:t>
            </a:r>
          </a:p>
          <a:p>
            <a:r>
              <a:rPr lang="en-US" sz="1800" b="1" dirty="0"/>
              <a:t>Describe</a:t>
            </a:r>
            <a:r>
              <a:rPr lang="en-US" sz="1800" dirty="0"/>
              <a:t> the code you want, and MATLAB Copilot will </a:t>
            </a:r>
            <a:r>
              <a:rPr lang="en-US" sz="1800" b="1" dirty="0"/>
              <a:t>create or modify</a:t>
            </a:r>
            <a:r>
              <a:rPr lang="en-US" sz="1800" dirty="0"/>
              <a:t> code for you.</a:t>
            </a:r>
          </a:p>
          <a:p>
            <a:r>
              <a:rPr lang="en-US" sz="1800" dirty="0"/>
              <a:t>MATLAB Copilot helps with programming by </a:t>
            </a:r>
            <a:r>
              <a:rPr lang="en-US" sz="1800" b="1" dirty="0"/>
              <a:t>explaining code</a:t>
            </a:r>
            <a:r>
              <a:rPr lang="en-US" sz="1800" dirty="0"/>
              <a:t>, </a:t>
            </a:r>
            <a:r>
              <a:rPr lang="en-US" sz="1800" b="1" dirty="0"/>
              <a:t>error messages</a:t>
            </a:r>
            <a:r>
              <a:rPr lang="en-US" sz="1800" dirty="0"/>
              <a:t>, and </a:t>
            </a:r>
            <a:r>
              <a:rPr lang="en-US" sz="1800" b="1" dirty="0"/>
              <a:t>adding comments</a:t>
            </a:r>
            <a:r>
              <a:rPr lang="en-US" sz="1800" dirty="0"/>
              <a:t>. </a:t>
            </a:r>
          </a:p>
          <a:p>
            <a:r>
              <a:rPr lang="en-US" sz="1800" dirty="0"/>
              <a:t>Automatically </a:t>
            </a:r>
            <a:r>
              <a:rPr lang="en-US" sz="1800" b="1" dirty="0"/>
              <a:t>generate test</a:t>
            </a:r>
            <a:r>
              <a:rPr lang="en-US" sz="1800" dirty="0"/>
              <a:t> cases to verify expected code behavior (with MATLAB Test).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026" name="Picture 2" descr="Screenshot of MATLAB Copilot">
            <a:extLst>
              <a:ext uri="{FF2B5EF4-FFF2-40B4-BE49-F238E27FC236}">
                <a16:creationId xmlns:a16="http://schemas.microsoft.com/office/drawing/2014/main" id="{AFF0C470-B66C-3BEB-A2FB-6DF34B455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7" r="6034" b="11"/>
          <a:stretch>
            <a:fillRect/>
          </a:stretch>
        </p:blipFill>
        <p:spPr bwMode="auto">
          <a:xfrm>
            <a:off x="6172200" y="1825641"/>
            <a:ext cx="5181600" cy="435130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9840911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25E-0D9A-9C08-9275-195A8895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6B1E-CBF3-8F6D-CEC3-EEFB5D9D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Optimized for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14228-894E-2EFA-3F5C-C77137C9D5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6400800" cy="4648200"/>
          </a:xfrm>
        </p:spPr>
        <p:txBody>
          <a:bodyPr/>
          <a:lstStyle/>
          <a:p>
            <a:r>
              <a:rPr lang="en-US"/>
              <a:t>Tightly integrated with MATLAB</a:t>
            </a:r>
          </a:p>
          <a:p>
            <a:endParaRPr lang="en-US"/>
          </a:p>
          <a:p>
            <a:r>
              <a:rPr lang="en-US"/>
              <a:t>Responses are based on the latest MathWorks documentation</a:t>
            </a:r>
          </a:p>
          <a:p>
            <a:endParaRPr lang="en-US"/>
          </a:p>
          <a:p>
            <a:r>
              <a:rPr lang="en-US"/>
              <a:t>Tuned for engineering and scientific workflows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TEMP">
            <a:extLst>
              <a:ext uri="{FF2B5EF4-FFF2-40B4-BE49-F238E27FC236}">
                <a16:creationId xmlns:a16="http://schemas.microsoft.com/office/drawing/2014/main" id="{44AECCBB-4F82-1644-931D-802AC2654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8400" y="1538779"/>
            <a:ext cx="5779864" cy="32501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566490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B03F-DD36-9E40-1E40-0852961B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use MATLAB Copilot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DD3B37-A9B1-2E52-2B56-50BC5101FB3E}"/>
              </a:ext>
            </a:extLst>
          </p:cNvPr>
          <p:cNvSpPr/>
          <p:nvPr/>
        </p:nvSpPr>
        <p:spPr>
          <a:xfrm>
            <a:off x="168445" y="1900990"/>
            <a:ext cx="3882186" cy="392229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Copilot Chat</a:t>
            </a:r>
            <a:endParaRPr lang="en-US" sz="2400" b="1" i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275A0C-E603-C3C3-89A3-D220C57DFCE8}"/>
              </a:ext>
            </a:extLst>
          </p:cNvPr>
          <p:cNvSpPr/>
          <p:nvPr/>
        </p:nvSpPr>
        <p:spPr>
          <a:xfrm>
            <a:off x="8141369" y="1900990"/>
            <a:ext cx="3882186" cy="392229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Copilot Actions</a:t>
            </a:r>
            <a:endParaRPr lang="en-US" sz="2400" b="1" i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400" b="1" i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C4D2EA-F7B1-9B4C-9F25-B4FC4CA8CC27}"/>
              </a:ext>
            </a:extLst>
          </p:cNvPr>
          <p:cNvSpPr/>
          <p:nvPr/>
        </p:nvSpPr>
        <p:spPr>
          <a:xfrm>
            <a:off x="4154907" y="1900990"/>
            <a:ext cx="3882186" cy="3922294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Copilot in the Editor and Command Window</a:t>
            </a:r>
            <a:endParaRPr lang="en-US" i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A9CAE-FC99-3FDD-8560-2A676C29167B}"/>
              </a:ext>
            </a:extLst>
          </p:cNvPr>
          <p:cNvSpPr txBox="1"/>
          <p:nvPr/>
        </p:nvSpPr>
        <p:spPr>
          <a:xfrm>
            <a:off x="410669" y="205291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A81993-4044-EB3F-AE90-6CB72DBC2147}"/>
              </a:ext>
            </a:extLst>
          </p:cNvPr>
          <p:cNvSpPr txBox="1"/>
          <p:nvPr/>
        </p:nvSpPr>
        <p:spPr>
          <a:xfrm>
            <a:off x="4480645" y="205291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399F0-BACF-2631-69C7-2F46DD8CC71C}"/>
              </a:ext>
            </a:extLst>
          </p:cNvPr>
          <p:cNvSpPr txBox="1"/>
          <p:nvPr/>
        </p:nvSpPr>
        <p:spPr>
          <a:xfrm>
            <a:off x="8469939" y="205291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3.</a:t>
            </a:r>
          </a:p>
        </p:txBody>
      </p:sp>
      <p:pic>
        <p:nvPicPr>
          <p:cNvPr id="1026" name="Picture 2" descr="Screenshot of the MATLAB desktop showing two separate plots for current and torque, a user’s prompt requesting both values on the same chart, and newly generated code that implements the requested change. ">
            <a:extLst>
              <a:ext uri="{FF2B5EF4-FFF2-40B4-BE49-F238E27FC236}">
                <a16:creationId xmlns:a16="http://schemas.microsoft.com/office/drawing/2014/main" id="{1F098FB9-2D02-663E-1710-61FE7D21F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815" y="2680447"/>
            <a:ext cx="3504369" cy="19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reenshot of the MATLAB desktop with two panes: the left displays a simple function to calculate the area of a circle and the right shows a test file with unit tests for the function. ">
            <a:extLst>
              <a:ext uri="{FF2B5EF4-FFF2-40B4-BE49-F238E27FC236}">
                <a16:creationId xmlns:a16="http://schemas.microsoft.com/office/drawing/2014/main" id="{AFFD6493-0B81-832B-30EF-A39E0E8D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821" y="2680446"/>
            <a:ext cx="3505282" cy="19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27DA37-7ABC-B2F7-AA99-9A1942C8B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64" y="2680446"/>
            <a:ext cx="3496748" cy="19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3474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5D2660-58E3-DC92-F3EE-047C145D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MATLAB Copilot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6FD77-8D56-3576-0E50-E9A483F4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5403FC6-2C46-41B9-8E3F-DCE81AF2A68D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C2D6A-2F6C-2E92-0D5B-8AA59960AA2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325563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Common Concerns.</a:t>
            </a:r>
          </a:p>
          <a:p>
            <a:r>
              <a:rPr lang="en-US" sz="1800" dirty="0"/>
              <a:t>Academic Integrity</a:t>
            </a:r>
          </a:p>
          <a:p>
            <a:pPr lvl="1"/>
            <a:r>
              <a:rPr lang="en-US" sz="1800" dirty="0"/>
              <a:t>Plagiarism.</a:t>
            </a:r>
          </a:p>
          <a:p>
            <a:pPr lvl="1"/>
            <a:r>
              <a:rPr lang="en-US" sz="1800" dirty="0"/>
              <a:t>Cheating.</a:t>
            </a:r>
          </a:p>
          <a:p>
            <a:r>
              <a:rPr lang="en-US" sz="1800" dirty="0"/>
              <a:t>Cognitive Impact</a:t>
            </a:r>
          </a:p>
          <a:p>
            <a:pPr lvl="1"/>
            <a:r>
              <a:rPr lang="en-US" sz="1800" dirty="0"/>
              <a:t>Decline in student critical thinking and over-reliance on AI.</a:t>
            </a:r>
          </a:p>
          <a:p>
            <a:r>
              <a:rPr lang="en-US" sz="1800" dirty="0"/>
              <a:t>Bias &amp; Accuracy</a:t>
            </a:r>
          </a:p>
          <a:p>
            <a:pPr lvl="1"/>
            <a:r>
              <a:rPr lang="en-US" sz="1800" dirty="0"/>
              <a:t>Misleading AI-generated content.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AFE3007-5156-3C34-A99F-237775CC37C1}"/>
              </a:ext>
            </a:extLst>
          </p:cNvPr>
          <p:cNvSpPr txBox="1">
            <a:spLocks/>
          </p:cNvSpPr>
          <p:nvPr/>
        </p:nvSpPr>
        <p:spPr>
          <a:xfrm>
            <a:off x="6096000" y="1325563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/>
              <a:t>Common Benefits.</a:t>
            </a:r>
          </a:p>
          <a:p>
            <a:r>
              <a:rPr lang="en-US" sz="1800" dirty="0"/>
              <a:t>Productivity &amp; Efficiency.</a:t>
            </a:r>
          </a:p>
          <a:p>
            <a:pPr lvl="1"/>
            <a:r>
              <a:rPr lang="en-US" sz="1800" dirty="0"/>
              <a:t>Learning Difficult Concepts.</a:t>
            </a:r>
          </a:p>
          <a:p>
            <a:r>
              <a:rPr lang="en-US" sz="1800" dirty="0"/>
              <a:t>Virtual tutor.</a:t>
            </a:r>
          </a:p>
          <a:p>
            <a:r>
              <a:rPr lang="en-US" sz="1800" dirty="0"/>
              <a:t>Skill Alignment with Industry.</a:t>
            </a:r>
          </a:p>
          <a:p>
            <a:r>
              <a:rPr lang="en-US" sz="1800" dirty="0">
                <a:ea typeface="Calibri" panose="020F0502020204030204" pitchFamily="34" charset="0"/>
              </a:rPr>
              <a:t>Teaching.</a:t>
            </a:r>
          </a:p>
          <a:p>
            <a:pPr lvl="1"/>
            <a:r>
              <a:rPr lang="en-US" sz="1800" dirty="0">
                <a:ea typeface="Calibri" panose="020F0502020204030204" pitchFamily="34" charset="0"/>
              </a:rPr>
              <a:t>Prompt Engineering.</a:t>
            </a:r>
          </a:p>
          <a:p>
            <a:pPr lvl="1"/>
            <a:r>
              <a:rPr lang="en-US" sz="1800" dirty="0">
                <a:ea typeface="Calibri" panose="020F0502020204030204" pitchFamily="34" charset="0"/>
              </a:rPr>
              <a:t>Iterative Refinement.</a:t>
            </a:r>
          </a:p>
          <a:p>
            <a:pPr lvl="1"/>
            <a:r>
              <a:rPr lang="en-US" sz="1800" dirty="0">
                <a:ea typeface="Calibri" panose="020F0502020204030204" pitchFamily="34" charset="0"/>
              </a:rPr>
              <a:t>Assessment of AI-Generated Outputs.</a:t>
            </a:r>
          </a:p>
          <a:p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9EE564-8D0B-3FE3-6E8A-70753B13E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38"/>
          <a:stretch>
            <a:fillRect/>
          </a:stretch>
        </p:blipFill>
        <p:spPr>
          <a:xfrm>
            <a:off x="620595" y="4526120"/>
            <a:ext cx="10036410" cy="14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6780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63D9D1-4C1A-5C78-6F18-C846C8CE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Competitions and Hackathons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21DDF7-32BB-6567-556B-2A0C2D34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3FC6-2C46-41B9-8E3F-DCE81AF2A68D}" type="slidenum">
              <a:rPr lang="en-US" smtClean="0"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C8C14-A509-DF61-5282-87E3D94B329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906713"/>
            <a:ext cx="10769600" cy="3525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Student competitions to challenge your students.</a:t>
            </a:r>
          </a:p>
          <a:p>
            <a:r>
              <a:rPr lang="en-US" sz="1800" dirty="0"/>
              <a:t>Apply </a:t>
            </a:r>
            <a:r>
              <a:rPr lang="en-US" sz="1800" b="1" dirty="0"/>
              <a:t>concepts</a:t>
            </a:r>
            <a:r>
              <a:rPr lang="en-US" sz="1800" dirty="0"/>
              <a:t> to specific </a:t>
            </a:r>
            <a:r>
              <a:rPr lang="en-US" sz="1800" b="1" dirty="0"/>
              <a:t>challenge</a:t>
            </a:r>
            <a:r>
              <a:rPr lang="en-US" sz="1800" dirty="0"/>
              <a:t>.</a:t>
            </a:r>
          </a:p>
          <a:p>
            <a:r>
              <a:rPr lang="en-US" sz="1800" dirty="0"/>
              <a:t>Develop </a:t>
            </a:r>
            <a:r>
              <a:rPr lang="en-US" sz="1800" b="1" dirty="0"/>
              <a:t>soft skills</a:t>
            </a:r>
            <a:r>
              <a:rPr lang="en-US" sz="1800" dirty="0"/>
              <a:t>.</a:t>
            </a:r>
          </a:p>
          <a:p>
            <a:r>
              <a:rPr lang="en-US" sz="1800" dirty="0"/>
              <a:t>Access </a:t>
            </a:r>
            <a:r>
              <a:rPr lang="en-US" sz="1800" b="1" dirty="0"/>
              <a:t>tutorials </a:t>
            </a:r>
            <a:r>
              <a:rPr lang="en-US" sz="1800" dirty="0"/>
              <a:t>from MathWorks.</a:t>
            </a:r>
          </a:p>
          <a:p>
            <a:r>
              <a:rPr lang="en-US" sz="1800" b="1" dirty="0"/>
              <a:t>Project-based</a:t>
            </a:r>
            <a:r>
              <a:rPr lang="en-US" sz="1800" dirty="0"/>
              <a:t> experience.</a:t>
            </a:r>
          </a:p>
          <a:p>
            <a:r>
              <a:rPr lang="en-US" sz="1800" dirty="0"/>
              <a:t>Opportunities to </a:t>
            </a:r>
            <a:r>
              <a:rPr lang="en-US" sz="1800" b="1" dirty="0"/>
              <a:t>collaborate</a:t>
            </a:r>
            <a:r>
              <a:rPr lang="en-US" sz="1800" dirty="0"/>
              <a:t> across </a:t>
            </a:r>
            <a:r>
              <a:rPr lang="en-US" sz="1800" b="1" dirty="0"/>
              <a:t>disciplines</a:t>
            </a:r>
            <a:r>
              <a:rPr lang="en-US" sz="1800" dirty="0"/>
              <a:t>.</a:t>
            </a:r>
          </a:p>
          <a:p>
            <a:r>
              <a:rPr lang="en-US" sz="1800" dirty="0"/>
              <a:t>Guidance from </a:t>
            </a:r>
            <a:r>
              <a:rPr lang="en-US" sz="1800" b="1" dirty="0"/>
              <a:t>industry</a:t>
            </a:r>
            <a:r>
              <a:rPr lang="en-US" sz="1800" dirty="0"/>
              <a:t> </a:t>
            </a:r>
            <a:r>
              <a:rPr lang="en-US" sz="1800" b="1" dirty="0"/>
              <a:t>experts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E08BE-9869-A324-6335-94760698F9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60"/>
          <a:stretch>
            <a:fillRect/>
          </a:stretch>
        </p:blipFill>
        <p:spPr>
          <a:xfrm>
            <a:off x="280551" y="1323898"/>
            <a:ext cx="11073250" cy="1398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EB25D8-3759-DEAF-D4B4-DB24A217B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506" y="2906232"/>
            <a:ext cx="4313294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0575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AE69-9760-169C-7A0A-AFED9A9C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D0CAF-E754-9AD0-9BE3-F80EFAFC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5F25E-4F77-4583-AD20-FE41E3A11DE0}" type="slidenum">
              <a:rPr lang="en-PH" smtClean="0"/>
              <a:t>32</a:t>
            </a:fld>
            <a:endParaRPr lang="en-P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DEB87B-AFEE-2838-CC06-1B507A18D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28662"/>
            <a:ext cx="97536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33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.7|3.3|3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S-AS">
      <a:majorFont>
        <a:latin typeface="Avenir Heavy"/>
        <a:ea typeface=""/>
        <a:cs typeface=""/>
      </a:majorFont>
      <a:minorFont>
        <a:latin typeface="Avenir LT 55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 Overview.pptx" id="{4EBFC1AE-2C29-4D6D-B3D3-98694F9A794E}" vid="{268F3C7C-5AE6-4EE9-8354-069BFC95AD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4477AC6CBEB4BA542F46D5B777E30" ma:contentTypeVersion="17" ma:contentTypeDescription="Create a new document." ma:contentTypeScope="" ma:versionID="c73b9dac18f7da3dae6106c3692cecdb">
  <xsd:schema xmlns:xsd="http://www.w3.org/2001/XMLSchema" xmlns:xs="http://www.w3.org/2001/XMLSchema" xmlns:p="http://schemas.microsoft.com/office/2006/metadata/properties" xmlns:ns2="06729b8e-c799-49b3-8f18-22c6b3d444dd" xmlns:ns3="6cd71aa4-e5ca-4571-beaf-7f61b2c233a1" targetNamespace="http://schemas.microsoft.com/office/2006/metadata/properties" ma:root="true" ma:fieldsID="c5ba5ca78c462f8798dbf3cbb3b6dc68" ns2:_="" ns3:_="">
    <xsd:import namespace="06729b8e-c799-49b3-8f18-22c6b3d444dd"/>
    <xsd:import namespace="6cd71aa4-e5ca-4571-beaf-7f61b2c233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29b8e-c799-49b3-8f18-22c6b3d444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e65c769-5ee3-483c-ad7d-f3b074eac4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71aa4-e5ca-4571-beaf-7f61b2c233a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eb5121e-33f6-4252-8499-454b4e2a4b0b}" ma:internalName="TaxCatchAll" ma:showField="CatchAllData" ma:web="6cd71aa4-e5ca-4571-beaf-7f61b2c233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29b8e-c799-49b3-8f18-22c6b3d444dd">
      <Terms xmlns="http://schemas.microsoft.com/office/infopath/2007/PartnerControls"/>
    </lcf76f155ced4ddcb4097134ff3c332f>
    <TaxCatchAll xmlns="6cd71aa4-e5ca-4571-beaf-7f61b2c233a1" xsi:nil="true"/>
  </documentManagement>
</p:properties>
</file>

<file path=customXml/itemProps1.xml><?xml version="1.0" encoding="utf-8"?>
<ds:datastoreItem xmlns:ds="http://schemas.openxmlformats.org/officeDocument/2006/customXml" ds:itemID="{67074D4A-A6D0-4EFD-9440-733F446969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0AD1DD-FEE7-4587-848E-0B58586AF0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729b8e-c799-49b3-8f18-22c6b3d444dd"/>
    <ds:schemaRef ds:uri="6cd71aa4-e5ca-4571-beaf-7f61b2c233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143E4D-E4D2-4542-A123-C867B5318F69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6cd71aa4-e5ca-4571-beaf-7f61b2c233a1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6729b8e-c799-49b3-8f18-22c6b3d444dd"/>
  </ds:schemaRefs>
</ds:datastoreItem>
</file>

<file path=docMetadata/LabelInfo.xml><?xml version="1.0" encoding="utf-8"?>
<clbl:labelList xmlns:clbl="http://schemas.microsoft.com/office/2020/mipLabelMetadata">
  <clbl:label id="{465edc00-1431-4379-a814-2e39c55906ba}" enabled="1" method="Privileged" siteId="{99841ea8-77f1-49c8-bc33-0a46d46d02d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TechSource Standard</Template>
  <TotalTime>3418</TotalTime>
  <Words>2006</Words>
  <Application>Microsoft Office PowerPoint</Application>
  <PresentationFormat>Widescreen</PresentationFormat>
  <Paragraphs>384</Paragraphs>
  <Slides>32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Arial</vt:lpstr>
      <vt:lpstr>Arial Unicode MS</vt:lpstr>
      <vt:lpstr>Avenir Heavy</vt:lpstr>
      <vt:lpstr>Avenir LT 55 Roman</vt:lpstr>
      <vt:lpstr>Calibri</vt:lpstr>
      <vt:lpstr>Cambria Math</vt:lpstr>
      <vt:lpstr>Futura Std Book</vt:lpstr>
      <vt:lpstr>Futura Std Medium</vt:lpstr>
      <vt:lpstr>Roboto</vt:lpstr>
      <vt:lpstr>Segoe UI</vt:lpstr>
      <vt:lpstr>Times New Roman</vt:lpstr>
      <vt:lpstr>Wingdings</vt:lpstr>
      <vt:lpstr>Office Theme</vt:lpstr>
      <vt:lpstr>Enhance Teaching and Learning with MATLAB and GenAI</vt:lpstr>
      <vt:lpstr>https://tinyurl.com/USAMATLABPortal</vt:lpstr>
      <vt:lpstr>https://tinyurl.com/USAMATLAB</vt:lpstr>
      <vt:lpstr>Teaching Students to Solve Complex Heat and Mass Transfer Problems with MATLAB </vt:lpstr>
      <vt:lpstr>What We’re going to Discuss?</vt:lpstr>
      <vt:lpstr>PowerPoint Presentation</vt:lpstr>
      <vt:lpstr>MATLAB &amp; Simulink Online</vt:lpstr>
      <vt:lpstr>What matters to you?</vt:lpstr>
      <vt:lpstr>What matters to you?</vt:lpstr>
      <vt:lpstr>Challenges in Teaching</vt:lpstr>
      <vt:lpstr>Deeply Rooted in Education</vt:lpstr>
      <vt:lpstr>Campus-Wide Access to MATLAB and Simulink</vt:lpstr>
      <vt:lpstr>Campus-Wide Access to MATLAB and Simulink</vt:lpstr>
      <vt:lpstr>Live Script: Computational Notebooks with Live Editor</vt:lpstr>
      <vt:lpstr>Online Training Suite</vt:lpstr>
      <vt:lpstr>Online Training Suite</vt:lpstr>
      <vt:lpstr>Learning Path Catalog Self-Paced Online Courses:  Learning Paths</vt:lpstr>
      <vt:lpstr>Electrical and Computer Engineering Course Curriculum</vt:lpstr>
      <vt:lpstr>MATLAB and Simulink Courseware</vt:lpstr>
      <vt:lpstr>MATLAB® Course Designer™</vt:lpstr>
      <vt:lpstr>MATLAB Grader</vt:lpstr>
      <vt:lpstr>Traditional Grading</vt:lpstr>
      <vt:lpstr>PowerPoint Presentation</vt:lpstr>
      <vt:lpstr>GenAI can help you solve specific problems</vt:lpstr>
      <vt:lpstr>Three potential users of Gen-AI Who are the Gen-AI users in higher education? </vt:lpstr>
      <vt:lpstr>Adapting to a world with  Generative AI</vt:lpstr>
      <vt:lpstr>MATLAB Copilot</vt:lpstr>
      <vt:lpstr>Optimized for MATLAB</vt:lpstr>
      <vt:lpstr>Three ways to use MATLAB Copilot</vt:lpstr>
      <vt:lpstr>MATLAB Copilot</vt:lpstr>
      <vt:lpstr>Competitions and Hackathons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Muslim Bin Mohd Fayzak</dc:creator>
  <cp:keywords>Version 12.0</cp:keywords>
  <cp:lastModifiedBy>Gerald Reymari Acoba Cagayan</cp:lastModifiedBy>
  <cp:revision>5</cp:revision>
  <dcterms:created xsi:type="dcterms:W3CDTF">2026-03-03T01:26:16Z</dcterms:created>
  <dcterms:modified xsi:type="dcterms:W3CDTF">2026-09-24T15:25:15Z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_dlc_DocIdItemGuid">
    <vt:lpwstr>2a393a0c-1ca2-476b-bae1-8fa0d53e1739</vt:lpwstr>
  </property>
  <property fmtid="{D5CDD505-2E9C-101B-9397-08002B2CF9AE}" pid="8" name="ContentTypeId">
    <vt:lpwstr>0x0101001FD4477AC6CBEB4BA542F46D5B777E30</vt:lpwstr>
  </property>
  <property fmtid="{D5CDD505-2E9C-101B-9397-08002B2CF9AE}" pid="9" name="MediaServiceImageTags">
    <vt:lpwstr/>
  </property>
  <property fmtid="{D5CDD505-2E9C-101B-9397-08002B2CF9AE}" pid="10" name="MSIP_Label_465edc00-1431-4379-a814-2e39c55906ba_Enabled">
    <vt:lpwstr>true</vt:lpwstr>
  </property>
  <property fmtid="{D5CDD505-2E9C-101B-9397-08002B2CF9AE}" pid="11" name="MSIP_Label_465edc00-1431-4379-a814-2e39c55906ba_SetDate">
    <vt:lpwstr>2026-03-10T05:02:30Z</vt:lpwstr>
  </property>
  <property fmtid="{D5CDD505-2E9C-101B-9397-08002B2CF9AE}" pid="12" name="MSIP_Label_465edc00-1431-4379-a814-2e39c55906ba_Method">
    <vt:lpwstr>Privileged</vt:lpwstr>
  </property>
  <property fmtid="{D5CDD505-2E9C-101B-9397-08002B2CF9AE}" pid="13" name="MSIP_Label_465edc00-1431-4379-a814-2e39c55906ba_Name">
    <vt:lpwstr>Public</vt:lpwstr>
  </property>
  <property fmtid="{D5CDD505-2E9C-101B-9397-08002B2CF9AE}" pid="14" name="MSIP_Label_465edc00-1431-4379-a814-2e39c55906ba_SiteId">
    <vt:lpwstr>99841ea8-77f1-49c8-bc33-0a46d46d02d8</vt:lpwstr>
  </property>
  <property fmtid="{D5CDD505-2E9C-101B-9397-08002B2CF9AE}" pid="15" name="MSIP_Label_465edc00-1431-4379-a814-2e39c55906ba_ActionId">
    <vt:lpwstr>10afdb7c-9edc-4fd0-86ff-33b0c2eaa233</vt:lpwstr>
  </property>
  <property fmtid="{D5CDD505-2E9C-101B-9397-08002B2CF9AE}" pid="16" name="MSIP_Label_465edc00-1431-4379-a814-2e39c55906ba_ContentBits">
    <vt:lpwstr>0</vt:lpwstr>
  </property>
  <property fmtid="{D5CDD505-2E9C-101B-9397-08002B2CF9AE}" pid="17" name="MSIP_Label_465edc00-1431-4379-a814-2e39c55906ba_Tag">
    <vt:lpwstr>10, 0, 1, 1</vt:lpwstr>
  </property>
</Properties>
</file>